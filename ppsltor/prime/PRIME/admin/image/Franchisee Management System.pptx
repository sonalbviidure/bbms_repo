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8" r:id="rId3"/>
    <p:sldId id="260" r:id="rId4"/>
    <p:sldId id="262" r:id="rId5"/>
    <p:sldId id="274" r:id="rId6"/>
    <p:sldId id="270" r:id="rId7"/>
    <p:sldId id="271" r:id="rId8"/>
    <p:sldId id="272" r:id="rId9"/>
    <p:sldId id="275" r:id="rId10"/>
    <p:sldId id="277" r:id="rId11"/>
    <p:sldId id="276" r:id="rId12"/>
    <p:sldId id="263" r:id="rId13"/>
    <p:sldId id="265" r:id="rId14"/>
    <p:sldId id="266" r:id="rId15"/>
    <p:sldId id="267" r:id="rId16"/>
    <p:sldId id="268" r:id="rId17"/>
    <p:sldId id="269" r:id="rId18"/>
    <p:sldId id="284" r:id="rId19"/>
    <p:sldId id="279" r:id="rId20"/>
    <p:sldId id="273" r:id="rId21"/>
    <p:sldId id="278" r:id="rId22"/>
    <p:sldId id="259" r:id="rId23"/>
    <p:sldId id="257" r:id="rId24"/>
    <p:sldId id="280" r:id="rId25"/>
    <p:sldId id="281" r:id="rId26"/>
    <p:sldId id="288" r:id="rId27"/>
    <p:sldId id="289" r:id="rId28"/>
    <p:sldId id="287" r:id="rId29"/>
    <p:sldId id="283" r:id="rId30"/>
    <p:sldId id="282" r:id="rId31"/>
    <p:sldId id="286" r:id="rId32"/>
    <p:sldId id="290" r:id="rId33"/>
    <p:sldId id="285" r:id="rId34"/>
    <p:sldId id="291" r:id="rId35"/>
    <p:sldId id="292" r:id="rId36"/>
    <p:sldId id="293"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9"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80857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633739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09408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4959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899091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668626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866070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3595384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78065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3004402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08962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3181372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9068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1616139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2516532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048262-9FC1-4F0D-8055-B4BE09E868B0}" type="datetimeFigureOut">
              <a:rPr lang="en-IN" smtClean="0"/>
              <a:t>30-03-2024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D297C4F-A829-4DDF-BB05-7CCC0E24A56F}" type="slidenum">
              <a:rPr lang="en-IN" smtClean="0"/>
              <a:t>‹#›</a:t>
            </a:fld>
            <a:endParaRPr lang="en-IN" dirty="0"/>
          </a:p>
        </p:txBody>
      </p:sp>
    </p:spTree>
    <p:extLst>
      <p:ext uri="{BB962C8B-B14F-4D97-AF65-F5344CB8AC3E}">
        <p14:creationId xmlns:p14="http://schemas.microsoft.com/office/powerpoint/2010/main" val="383174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B048262-9FC1-4F0D-8055-B4BE09E868B0}" type="datetimeFigureOut">
              <a:rPr lang="en-IN" smtClean="0"/>
              <a:t>30-03-2024</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D297C4F-A829-4DDF-BB05-7CCC0E24A56F}" type="slidenum">
              <a:rPr lang="en-IN" smtClean="0"/>
              <a:t>‹#›</a:t>
            </a:fld>
            <a:endParaRPr lang="en-IN" dirty="0"/>
          </a:p>
        </p:txBody>
      </p:sp>
    </p:spTree>
    <p:extLst>
      <p:ext uri="{BB962C8B-B14F-4D97-AF65-F5344CB8AC3E}">
        <p14:creationId xmlns:p14="http://schemas.microsoft.com/office/powerpoint/2010/main" val="203435572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mailto:sachin@gmail.com"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mailto:XYZ@GMAIL.COM"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mailto:XYZ@GMAIL.COM"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64F7-4C77-335A-F5DA-628864D7C811}"/>
              </a:ext>
            </a:extLst>
          </p:cNvPr>
          <p:cNvSpPr>
            <a:spLocks noGrp="1"/>
          </p:cNvSpPr>
          <p:nvPr>
            <p:ph type="ctrTitle"/>
          </p:nvPr>
        </p:nvSpPr>
        <p:spPr>
          <a:xfrm>
            <a:off x="-511396" y="1570858"/>
            <a:ext cx="10274969" cy="1646302"/>
          </a:xfrm>
        </p:spPr>
        <p:txBody>
          <a:bodyPr/>
          <a:lstStyle/>
          <a:p>
            <a:r>
              <a:rPr lang="en-IN" sz="4000" b="1" i="0" u="none" strike="noStrike" baseline="0" dirty="0">
                <a:solidFill>
                  <a:schemeClr val="tx1">
                    <a:lumMod val="95000"/>
                    <a:lumOff val="5000"/>
                  </a:schemeClr>
                </a:solidFill>
                <a:latin typeface="Algerian" panose="04020705040A02060702" pitchFamily="82" charset="0"/>
                <a:ea typeface="STCaiyun" panose="02010800040101010101" pitchFamily="2" charset="-122"/>
              </a:rPr>
              <a:t>Franchise Management System</a:t>
            </a:r>
            <a:endParaRPr lang="en-IN" sz="4000" b="1" dirty="0">
              <a:solidFill>
                <a:schemeClr val="tx1">
                  <a:lumMod val="95000"/>
                  <a:lumOff val="5000"/>
                </a:schemeClr>
              </a:solidFill>
              <a:latin typeface="Algerian" panose="04020705040A02060702" pitchFamily="82" charset="0"/>
              <a:ea typeface="STCaiyun" panose="02010800040101010101" pitchFamily="2" charset="-122"/>
            </a:endParaRPr>
          </a:p>
        </p:txBody>
      </p:sp>
      <p:sp>
        <p:nvSpPr>
          <p:cNvPr id="3" name="Subtitle 2">
            <a:extLst>
              <a:ext uri="{FF2B5EF4-FFF2-40B4-BE49-F238E27FC236}">
                <a16:creationId xmlns:a16="http://schemas.microsoft.com/office/drawing/2014/main" id="{4669DAD9-51E0-E6DF-368C-B31C073EEB08}"/>
              </a:ext>
            </a:extLst>
          </p:cNvPr>
          <p:cNvSpPr>
            <a:spLocks noGrp="1"/>
          </p:cNvSpPr>
          <p:nvPr>
            <p:ph type="subTitle" idx="1"/>
          </p:nvPr>
        </p:nvSpPr>
        <p:spPr>
          <a:xfrm flipV="1">
            <a:off x="10074418" y="6581116"/>
            <a:ext cx="45719" cy="139410"/>
          </a:xfrm>
        </p:spPr>
        <p:txBody>
          <a:bodyPr>
            <a:normAutofit fontScale="25000" lnSpcReduction="20000"/>
          </a:bodyPr>
          <a:lstStyle/>
          <a:p>
            <a:endParaRPr lang="en-IN" dirty="0"/>
          </a:p>
        </p:txBody>
      </p:sp>
    </p:spTree>
    <p:extLst>
      <p:ext uri="{BB962C8B-B14F-4D97-AF65-F5344CB8AC3E}">
        <p14:creationId xmlns:p14="http://schemas.microsoft.com/office/powerpoint/2010/main" val="131301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7D8B4E-CF58-07D0-D909-124FDAA9F8B6}"/>
              </a:ext>
            </a:extLst>
          </p:cNvPr>
          <p:cNvSpPr txBox="1"/>
          <p:nvPr/>
        </p:nvSpPr>
        <p:spPr>
          <a:xfrm>
            <a:off x="673767" y="1574410"/>
            <a:ext cx="8460902" cy="3782061"/>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dirty="0">
                <a:latin typeface="TimesNewRomanPSMT"/>
              </a:rPr>
              <a:t>PRIME COMPUTER SERVICES </a:t>
            </a:r>
            <a:r>
              <a:rPr lang="en-US" sz="1800" b="0" i="0" u="none" strike="noStrike" baseline="0" dirty="0">
                <a:latin typeface="TimesNewRomanPSMT"/>
              </a:rPr>
              <a:t>consists of list of records  about the management of the details of the students </a:t>
            </a:r>
            <a:r>
              <a:rPr lang="en-US" dirty="0">
                <a:latin typeface="TimesNewRomanPSMT"/>
              </a:rPr>
              <a:t>, </a:t>
            </a:r>
            <a:r>
              <a:rPr lang="en-US" sz="1800" b="0" i="0" u="none" strike="noStrike" baseline="0" dirty="0">
                <a:latin typeface="TimesNewRomanPSMT"/>
              </a:rPr>
              <a:t>faculty and courses.</a:t>
            </a:r>
          </a:p>
          <a:p>
            <a:pPr marL="285750" indent="-285750" algn="l">
              <a:lnSpc>
                <a:spcPct val="150000"/>
              </a:lnSpc>
              <a:buFont typeface="Arial" panose="020B0604020202020204" pitchFamily="34" charset="0"/>
              <a:buChar char="•"/>
            </a:pPr>
            <a:r>
              <a:rPr lang="en-US" sz="1800" b="0" i="0" u="none" strike="noStrike" baseline="0" dirty="0">
                <a:latin typeface="TimesNewRomanPSMT"/>
              </a:rPr>
              <a:t>This is a web-based application. </a:t>
            </a:r>
          </a:p>
          <a:p>
            <a:pPr marL="285750" indent="-285750" algn="l">
              <a:lnSpc>
                <a:spcPct val="150000"/>
              </a:lnSpc>
              <a:buFont typeface="Arial" panose="020B0604020202020204" pitchFamily="34" charset="0"/>
              <a:buChar char="•"/>
            </a:pPr>
            <a:r>
              <a:rPr lang="en-US" sz="1800" b="0" i="0" u="none" strike="noStrike" baseline="0" dirty="0">
                <a:latin typeface="TimesNewRomanPSMT"/>
              </a:rPr>
              <a:t>The project has five modules namely- </a:t>
            </a:r>
          </a:p>
          <a:p>
            <a:pPr marL="742950" lvl="1" indent="-285750">
              <a:lnSpc>
                <a:spcPct val="150000"/>
              </a:lnSpc>
              <a:buFont typeface="Arial" panose="020B0604020202020204" pitchFamily="34" charset="0"/>
              <a:buChar char="•"/>
            </a:pPr>
            <a:r>
              <a:rPr lang="en-IN" b="0" i="0" u="none" strike="noStrike" baseline="0" dirty="0">
                <a:latin typeface="TimesNewRomanPSMT"/>
              </a:rPr>
              <a:t>Login component,</a:t>
            </a:r>
          </a:p>
          <a:p>
            <a:pPr marL="742950" lvl="1" indent="-285750">
              <a:lnSpc>
                <a:spcPct val="150000"/>
              </a:lnSpc>
              <a:buFont typeface="Arial" panose="020B0604020202020204" pitchFamily="34" charset="0"/>
              <a:buChar char="•"/>
            </a:pPr>
            <a:r>
              <a:rPr lang="en-IN" b="0" i="0" u="none" strike="noStrike" baseline="0" dirty="0">
                <a:latin typeface="TimesNewRomanPSMT"/>
              </a:rPr>
              <a:t>Administrator Component, </a:t>
            </a:r>
          </a:p>
          <a:p>
            <a:pPr marL="742950" lvl="1" indent="-285750">
              <a:lnSpc>
                <a:spcPct val="150000"/>
              </a:lnSpc>
              <a:buFont typeface="Arial" panose="020B0604020202020204" pitchFamily="34" charset="0"/>
              <a:buChar char="•"/>
            </a:pPr>
            <a:r>
              <a:rPr lang="en-IN" b="0" i="0" u="none" strike="noStrike" baseline="0" dirty="0">
                <a:latin typeface="TimesNewRomanPSMT"/>
              </a:rPr>
              <a:t>Franchise Manager Component, </a:t>
            </a:r>
          </a:p>
          <a:p>
            <a:pPr marL="742950" lvl="1" indent="-285750">
              <a:lnSpc>
                <a:spcPct val="150000"/>
              </a:lnSpc>
              <a:buFont typeface="Arial" panose="020B0604020202020204" pitchFamily="34" charset="0"/>
              <a:buChar char="•"/>
            </a:pPr>
            <a:r>
              <a:rPr lang="en-IN" b="0" i="0" u="none" strike="noStrike" baseline="0" dirty="0">
                <a:latin typeface="TimesNewRomanPSMT"/>
              </a:rPr>
              <a:t>Student </a:t>
            </a:r>
            <a:r>
              <a:rPr lang="en-US" b="0" i="0" u="none" strike="noStrike" baseline="0" dirty="0">
                <a:latin typeface="TimesNewRomanPSMT"/>
              </a:rPr>
              <a:t>Component. </a:t>
            </a:r>
          </a:p>
          <a:p>
            <a:pPr marL="742950" lvl="1" indent="-285750">
              <a:lnSpc>
                <a:spcPct val="150000"/>
              </a:lnSpc>
              <a:buFont typeface="Arial" panose="020B0604020202020204" pitchFamily="34" charset="0"/>
              <a:buChar char="•"/>
            </a:pPr>
            <a:r>
              <a:rPr lang="en-US" dirty="0">
                <a:latin typeface="TimesNewRomanPSMT"/>
              </a:rPr>
              <a:t>Faculty Component </a:t>
            </a:r>
            <a:endParaRPr lang="en-US" b="0" i="0" u="none" strike="noStrike" baseline="0" dirty="0">
              <a:latin typeface="TimesNewRomanPSMT"/>
            </a:endParaRPr>
          </a:p>
        </p:txBody>
      </p:sp>
      <p:sp>
        <p:nvSpPr>
          <p:cNvPr id="2" name="TextBox 1">
            <a:extLst>
              <a:ext uri="{FF2B5EF4-FFF2-40B4-BE49-F238E27FC236}">
                <a16:creationId xmlns:a16="http://schemas.microsoft.com/office/drawing/2014/main" id="{C9491877-6453-52BF-CB00-C9C2D76F42BE}"/>
              </a:ext>
            </a:extLst>
          </p:cNvPr>
          <p:cNvSpPr txBox="1"/>
          <p:nvPr/>
        </p:nvSpPr>
        <p:spPr>
          <a:xfrm>
            <a:off x="673767" y="585036"/>
            <a:ext cx="3858126" cy="861774"/>
          </a:xfrm>
          <a:prstGeom prst="rect">
            <a:avLst/>
          </a:prstGeom>
          <a:noFill/>
        </p:spPr>
        <p:txBody>
          <a:bodyPr wrap="square" rtlCol="0">
            <a:spAutoFit/>
          </a:bodyPr>
          <a:lstStyle/>
          <a:p>
            <a:r>
              <a:rPr lang="en-IN" sz="3200" b="1" i="0" u="none" strike="noStrike" baseline="0" dirty="0">
                <a:latin typeface="TimesNewRomanPS-BoldMT"/>
              </a:rPr>
              <a:t>ABSTRACT</a:t>
            </a:r>
            <a:endParaRPr lang="en-IN" sz="2000" b="1" i="0" u="none" strike="noStrike" baseline="0" dirty="0">
              <a:latin typeface="TimesNewRomanPS-BoldMT"/>
            </a:endParaRPr>
          </a:p>
          <a:p>
            <a:endParaRPr lang="en-IN" dirty="0"/>
          </a:p>
        </p:txBody>
      </p:sp>
    </p:spTree>
    <p:extLst>
      <p:ext uri="{BB962C8B-B14F-4D97-AF65-F5344CB8AC3E}">
        <p14:creationId xmlns:p14="http://schemas.microsoft.com/office/powerpoint/2010/main" val="4011046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7C0A1-51C3-9532-A114-3FF2759CF354}"/>
              </a:ext>
            </a:extLst>
          </p:cNvPr>
          <p:cNvSpPr txBox="1"/>
          <p:nvPr/>
        </p:nvSpPr>
        <p:spPr>
          <a:xfrm>
            <a:off x="1090862" y="1390776"/>
            <a:ext cx="6868149" cy="3970318"/>
          </a:xfrm>
          <a:prstGeom prst="rect">
            <a:avLst/>
          </a:prstGeom>
          <a:noFill/>
        </p:spPr>
        <p:txBody>
          <a:bodyPr wrap="square" rtlCol="0">
            <a:spAutoFit/>
          </a:bodyPr>
          <a:lstStyle/>
          <a:p>
            <a:r>
              <a:rPr lang="en-IN" b="1" dirty="0">
                <a:latin typeface="TimesNewRomanPSMT"/>
              </a:rPr>
              <a:t>Hardware Requirements: </a:t>
            </a:r>
          </a:p>
          <a:p>
            <a:endParaRPr lang="en-IN" dirty="0">
              <a:latin typeface="TimesNewRomanPSMT"/>
            </a:endParaRPr>
          </a:p>
          <a:p>
            <a:pPr marL="285750" indent="-285750">
              <a:buFont typeface="Arial" panose="020B0604020202020204" pitchFamily="34" charset="0"/>
              <a:buChar char="•"/>
            </a:pPr>
            <a:r>
              <a:rPr lang="en-IN" dirty="0">
                <a:latin typeface="TimesNewRomanPSMT"/>
              </a:rPr>
              <a:t>Storage: Minimum 1.5GB Storage. </a:t>
            </a:r>
          </a:p>
          <a:p>
            <a:pPr marL="285750" indent="-285750">
              <a:buFont typeface="Arial" panose="020B0604020202020204" pitchFamily="34" charset="0"/>
              <a:buChar char="•"/>
            </a:pPr>
            <a:r>
              <a:rPr lang="en-IN" dirty="0">
                <a:latin typeface="TimesNewRomanPSMT"/>
              </a:rPr>
              <a:t>Ram: 4GB. </a:t>
            </a:r>
          </a:p>
          <a:p>
            <a:pPr marL="285750" indent="-285750">
              <a:buFont typeface="Arial" panose="020B0604020202020204" pitchFamily="34" charset="0"/>
              <a:buChar char="•"/>
            </a:pPr>
            <a:r>
              <a:rPr lang="en-IN" dirty="0">
                <a:latin typeface="TimesNewRomanPSMT"/>
              </a:rPr>
              <a:t>Hard disk: 10 GB</a:t>
            </a:r>
          </a:p>
          <a:p>
            <a:pPr marL="285750" indent="-285750">
              <a:buFont typeface="Arial" panose="020B0604020202020204" pitchFamily="34" charset="0"/>
              <a:buChar char="•"/>
            </a:pPr>
            <a:r>
              <a:rPr lang="en-IN" dirty="0">
                <a:latin typeface="TimesNewRomanPSMT"/>
              </a:rPr>
              <a:t>Processor: Intel i3/i5</a:t>
            </a:r>
          </a:p>
          <a:p>
            <a:endParaRPr lang="en-IN" dirty="0">
              <a:latin typeface="TimesNewRomanPSMT"/>
            </a:endParaRPr>
          </a:p>
          <a:p>
            <a:r>
              <a:rPr lang="en-IN" b="1" dirty="0">
                <a:latin typeface="TimesNewRomanPSMT"/>
              </a:rPr>
              <a:t>Software Requirement: </a:t>
            </a:r>
          </a:p>
          <a:p>
            <a:endParaRPr lang="en-IN" dirty="0">
              <a:latin typeface="TimesNewRomanPSMT"/>
            </a:endParaRPr>
          </a:p>
          <a:p>
            <a:pPr marL="285750" indent="-285750">
              <a:buFont typeface="Arial" panose="020B0604020202020204" pitchFamily="34" charset="0"/>
              <a:buChar char="•"/>
            </a:pPr>
            <a:r>
              <a:rPr lang="en-IN" dirty="0">
                <a:latin typeface="TimesNewRomanPSMT"/>
              </a:rPr>
              <a:t>Language: Laravel Framework</a:t>
            </a:r>
          </a:p>
          <a:p>
            <a:pPr marL="285750" indent="-285750">
              <a:buFont typeface="Arial" panose="020B0604020202020204" pitchFamily="34" charset="0"/>
              <a:buChar char="•"/>
            </a:pPr>
            <a:r>
              <a:rPr lang="en-IN" dirty="0">
                <a:latin typeface="TimesNewRomanPSMT"/>
              </a:rPr>
              <a:t>For Design: HTML , CSS , PHP , and Java Script</a:t>
            </a:r>
          </a:p>
          <a:p>
            <a:pPr marL="285750" indent="-285750">
              <a:buFont typeface="Arial" panose="020B0604020202020204" pitchFamily="34" charset="0"/>
              <a:buChar char="•"/>
            </a:pPr>
            <a:r>
              <a:rPr lang="en-IN" dirty="0">
                <a:latin typeface="TimesNewRomanPSMT"/>
              </a:rPr>
              <a:t>Database: XAMPP SQL Server </a:t>
            </a:r>
          </a:p>
          <a:p>
            <a:pPr marL="285750" indent="-285750">
              <a:buFont typeface="Arial" panose="020B0604020202020204" pitchFamily="34" charset="0"/>
              <a:buChar char="•"/>
            </a:pPr>
            <a:r>
              <a:rPr lang="en-IN" dirty="0">
                <a:latin typeface="TimesNewRomanPSMT"/>
              </a:rPr>
              <a:t>Platform: VS Studio</a:t>
            </a:r>
          </a:p>
          <a:p>
            <a:pPr marL="285750" indent="-285750">
              <a:buFont typeface="Arial" panose="020B0604020202020204" pitchFamily="34" charset="0"/>
              <a:buChar char="•"/>
            </a:pPr>
            <a:r>
              <a:rPr lang="en-IN" dirty="0">
                <a:latin typeface="TimesNewRomanPSMT"/>
              </a:rPr>
              <a:t>Operating System: Windows, Linux</a:t>
            </a:r>
          </a:p>
        </p:txBody>
      </p:sp>
      <p:sp>
        <p:nvSpPr>
          <p:cNvPr id="2" name="TextBox 1">
            <a:extLst>
              <a:ext uri="{FF2B5EF4-FFF2-40B4-BE49-F238E27FC236}">
                <a16:creationId xmlns:a16="http://schemas.microsoft.com/office/drawing/2014/main" id="{3E01943D-1F1E-91EF-73B3-A567DED5754C}"/>
              </a:ext>
            </a:extLst>
          </p:cNvPr>
          <p:cNvSpPr txBox="1"/>
          <p:nvPr/>
        </p:nvSpPr>
        <p:spPr>
          <a:xfrm>
            <a:off x="1090862" y="449491"/>
            <a:ext cx="3850105" cy="80021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System Specifications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853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A174B-4BD0-BCA1-1334-D5666DD5213D}"/>
              </a:ext>
            </a:extLst>
          </p:cNvPr>
          <p:cNvSpPr txBox="1"/>
          <p:nvPr/>
        </p:nvSpPr>
        <p:spPr>
          <a:xfrm>
            <a:off x="532009" y="385665"/>
            <a:ext cx="8357937" cy="55363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dirty="0">
                <a:latin typeface="TimesNewRomanPSMT"/>
                <a:cs typeface="Times New Roman" panose="02020603050405020304" pitchFamily="18" charset="0"/>
              </a:rPr>
              <a:t>Proposed System </a:t>
            </a:r>
          </a:p>
          <a:p>
            <a:pPr>
              <a:lnSpc>
                <a:spcPct val="150000"/>
              </a:lnSpc>
            </a:pPr>
            <a:r>
              <a:rPr lang="en-US" b="1" dirty="0">
                <a:latin typeface="TimesNewRomanPSMT"/>
                <a:cs typeface="Times New Roman" panose="02020603050405020304" pitchFamily="18" charset="0"/>
              </a:rPr>
              <a:t>	</a:t>
            </a:r>
            <a:r>
              <a:rPr lang="en-US" dirty="0">
                <a:latin typeface="TimesNewRomanPSMT"/>
                <a:cs typeface="Times New Roman" panose="02020603050405020304" pitchFamily="18" charset="0"/>
              </a:rPr>
              <a:t>The Franchisee Management System is a software application which avoids more manual hours that need to spend in record keeping and generating reports. Maintaining of franchise details is complex in manual system in terms of agreements, royalty and activities.</a:t>
            </a:r>
          </a:p>
          <a:p>
            <a:pPr>
              <a:lnSpc>
                <a:spcPct val="150000"/>
              </a:lnSpc>
            </a:pPr>
            <a:endParaRPr lang="en-US" dirty="0">
              <a:latin typeface="TimesNewRomanPSMT"/>
              <a:cs typeface="Times New Roman" panose="02020603050405020304" pitchFamily="18" charset="0"/>
            </a:endParaRPr>
          </a:p>
          <a:p>
            <a:pPr>
              <a:lnSpc>
                <a:spcPct val="150000"/>
              </a:lnSpc>
            </a:pPr>
            <a:endParaRPr lang="en-US" dirty="0">
              <a:latin typeface="TimesNewRomanPSMT"/>
              <a:cs typeface="Times New Roman" panose="02020603050405020304" pitchFamily="18" charset="0"/>
            </a:endParaRPr>
          </a:p>
          <a:p>
            <a:pPr marL="285750" indent="-285750">
              <a:lnSpc>
                <a:spcPct val="150000"/>
              </a:lnSpc>
              <a:buFont typeface="Arial" panose="020B0604020202020204" pitchFamily="34" charset="0"/>
              <a:buChar char="•"/>
            </a:pPr>
            <a:r>
              <a:rPr lang="en-US" sz="2000" b="1" dirty="0">
                <a:latin typeface="TimesNewRomanPSMT"/>
                <a:cs typeface="Times New Roman" panose="02020603050405020304" pitchFamily="18" charset="0"/>
              </a:rPr>
              <a:t>Existing System </a:t>
            </a:r>
          </a:p>
          <a:p>
            <a:pPr>
              <a:lnSpc>
                <a:spcPct val="150000"/>
              </a:lnSpc>
            </a:pPr>
            <a:r>
              <a:rPr lang="en-US" b="1" dirty="0">
                <a:latin typeface="TimesNewRomanPSMT"/>
                <a:cs typeface="Times New Roman" panose="02020603050405020304" pitchFamily="18" charset="0"/>
              </a:rPr>
              <a:t>		</a:t>
            </a:r>
            <a:r>
              <a:rPr lang="en-US" dirty="0">
                <a:latin typeface="TimesNewRomanPSMT"/>
                <a:cs typeface="Times New Roman" panose="02020603050405020304" pitchFamily="18" charset="0"/>
              </a:rPr>
              <a:t>An educational institute which is having several franchises throughout the city finds it difficult to communicate between one another and with the head office. It results in delay of taking decisions regarding meetings, issuing of material, payment of fee, etc. </a:t>
            </a:r>
          </a:p>
          <a:p>
            <a:pPr>
              <a:lnSpc>
                <a:spcPct val="150000"/>
              </a:lnSpc>
            </a:pPr>
            <a:endParaRPr lang="en-US" dirty="0">
              <a:latin typeface="TimesNewRomanPSMT"/>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3978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CEBA1C-ACC2-50E0-2289-E03E86DF8E4E}"/>
              </a:ext>
            </a:extLst>
          </p:cNvPr>
          <p:cNvSpPr txBox="1"/>
          <p:nvPr/>
        </p:nvSpPr>
        <p:spPr>
          <a:xfrm>
            <a:off x="811762" y="519508"/>
            <a:ext cx="7623110" cy="2258567"/>
          </a:xfrm>
          <a:prstGeom prst="rect">
            <a:avLst/>
          </a:prstGeom>
          <a:noFill/>
        </p:spPr>
        <p:txBody>
          <a:bodyPr wrap="square">
            <a:spAutoFit/>
          </a:bodyPr>
          <a:lstStyle/>
          <a:p>
            <a:pPr>
              <a:lnSpc>
                <a:spcPct val="150000"/>
              </a:lnSpc>
            </a:pPr>
            <a:r>
              <a:rPr lang="en-US" sz="2400" b="1" dirty="0">
                <a:latin typeface="TimesNewRomanPSMT"/>
              </a:rPr>
              <a:t>DFD Diagram</a:t>
            </a:r>
          </a:p>
          <a:p>
            <a:pPr>
              <a:lnSpc>
                <a:spcPct val="150000"/>
              </a:lnSpc>
            </a:pPr>
            <a:endParaRPr lang="en-US" dirty="0">
              <a:latin typeface="TimesNewRomanPSMT"/>
            </a:endParaRPr>
          </a:p>
          <a:p>
            <a:pPr>
              <a:lnSpc>
                <a:spcPct val="150000"/>
              </a:lnSpc>
            </a:pPr>
            <a:r>
              <a:rPr lang="en-US" b="0" i="0" dirty="0">
                <a:effectLst/>
                <a:latin typeface="TimesNewRomanPSMT"/>
              </a:rPr>
              <a:t>A data flow diagram (DFD) is a graphical representation of the "flow“ of data through an </a:t>
            </a:r>
            <a:r>
              <a:rPr lang="en-US" dirty="0">
                <a:latin typeface="TimesNewRomanPSMT"/>
              </a:rPr>
              <a:t>information system</a:t>
            </a:r>
            <a:r>
              <a:rPr lang="en-US" b="0" i="0" dirty="0">
                <a:effectLst/>
                <a:latin typeface="TimesNewRomanPSMT"/>
              </a:rPr>
              <a:t>. It differs from the system flowchart as it shows the flow of data through </a:t>
            </a:r>
            <a:r>
              <a:rPr lang="en-US" dirty="0">
                <a:latin typeface="TimesNewRomanPSMT"/>
              </a:rPr>
              <a:t>processes</a:t>
            </a:r>
            <a:r>
              <a:rPr lang="en-US" b="0" i="0" strike="noStrike" dirty="0">
                <a:effectLst/>
                <a:latin typeface="TimesNewRomanPSMT"/>
              </a:rPr>
              <a:t> </a:t>
            </a:r>
            <a:r>
              <a:rPr lang="en-US" b="0" i="0" dirty="0">
                <a:effectLst/>
                <a:latin typeface="TimesNewRomanPSMT"/>
              </a:rPr>
              <a:t>instead of hardware.</a:t>
            </a:r>
            <a:endParaRPr lang="en-IN" dirty="0">
              <a:latin typeface="TimesNewRomanPSMT"/>
            </a:endParaRPr>
          </a:p>
        </p:txBody>
      </p:sp>
    </p:spTree>
    <p:extLst>
      <p:ext uri="{BB962C8B-B14F-4D97-AF65-F5344CB8AC3E}">
        <p14:creationId xmlns:p14="http://schemas.microsoft.com/office/powerpoint/2010/main" val="799971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C4481F5-41AB-C848-7503-2E943E258F09}"/>
              </a:ext>
            </a:extLst>
          </p:cNvPr>
          <p:cNvSpPr/>
          <p:nvPr/>
        </p:nvSpPr>
        <p:spPr>
          <a:xfrm>
            <a:off x="3749278" y="2348210"/>
            <a:ext cx="2314575" cy="21336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4AB34712-FA55-1E03-BB92-39FE850575DE}"/>
              </a:ext>
            </a:extLst>
          </p:cNvPr>
          <p:cNvSpPr txBox="1"/>
          <p:nvPr/>
        </p:nvSpPr>
        <p:spPr>
          <a:xfrm>
            <a:off x="4276725" y="2872383"/>
            <a:ext cx="1676400" cy="923330"/>
          </a:xfrm>
          <a:prstGeom prst="rect">
            <a:avLst/>
          </a:prstGeom>
          <a:noFill/>
        </p:spPr>
        <p:txBody>
          <a:bodyPr wrap="square" rtlCol="0">
            <a:spAutoFit/>
          </a:bodyPr>
          <a:lstStyle/>
          <a:p>
            <a:r>
              <a:rPr lang="en-US" dirty="0"/>
              <a:t>FRANCHISE </a:t>
            </a:r>
          </a:p>
          <a:p>
            <a:r>
              <a:rPr lang="en-US" dirty="0"/>
              <a:t>MANAGEMENT</a:t>
            </a:r>
          </a:p>
          <a:p>
            <a:r>
              <a:rPr lang="en-US" dirty="0"/>
              <a:t>SYSTEM</a:t>
            </a:r>
            <a:endParaRPr lang="en-IN" dirty="0"/>
          </a:p>
        </p:txBody>
      </p:sp>
      <p:sp>
        <p:nvSpPr>
          <p:cNvPr id="6" name="Rectangle 5">
            <a:extLst>
              <a:ext uri="{FF2B5EF4-FFF2-40B4-BE49-F238E27FC236}">
                <a16:creationId xmlns:a16="http://schemas.microsoft.com/office/drawing/2014/main" id="{F3470672-4DFA-E2AF-C0EE-6F514D8A1744}"/>
              </a:ext>
            </a:extLst>
          </p:cNvPr>
          <p:cNvSpPr/>
          <p:nvPr/>
        </p:nvSpPr>
        <p:spPr>
          <a:xfrm>
            <a:off x="654843" y="1752600"/>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 MANAGEMENT</a:t>
            </a:r>
            <a:endParaRPr lang="en-IN" dirty="0"/>
          </a:p>
        </p:txBody>
      </p:sp>
      <p:sp>
        <p:nvSpPr>
          <p:cNvPr id="12" name="Rectangle 11">
            <a:extLst>
              <a:ext uri="{FF2B5EF4-FFF2-40B4-BE49-F238E27FC236}">
                <a16:creationId xmlns:a16="http://schemas.microsoft.com/office/drawing/2014/main" id="{78D0B3CB-0C34-5E50-C127-DFD3EA0DB123}"/>
              </a:ext>
            </a:extLst>
          </p:cNvPr>
          <p:cNvSpPr/>
          <p:nvPr/>
        </p:nvSpPr>
        <p:spPr>
          <a:xfrm>
            <a:off x="3795712" y="704850"/>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FACULTY MANAGEMENT</a:t>
            </a:r>
            <a:endParaRPr lang="en-IN" dirty="0"/>
          </a:p>
        </p:txBody>
      </p:sp>
      <p:sp>
        <p:nvSpPr>
          <p:cNvPr id="14" name="Rectangle 13">
            <a:extLst>
              <a:ext uri="{FF2B5EF4-FFF2-40B4-BE49-F238E27FC236}">
                <a16:creationId xmlns:a16="http://schemas.microsoft.com/office/drawing/2014/main" id="{17B40C46-1282-B544-BC3D-436DAA6B9A57}"/>
              </a:ext>
            </a:extLst>
          </p:cNvPr>
          <p:cNvSpPr/>
          <p:nvPr/>
        </p:nvSpPr>
        <p:spPr>
          <a:xfrm>
            <a:off x="621505" y="3312045"/>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 MANAGEMENT</a:t>
            </a:r>
            <a:endParaRPr lang="en-IN" dirty="0"/>
          </a:p>
        </p:txBody>
      </p:sp>
      <p:sp>
        <p:nvSpPr>
          <p:cNvPr id="15" name="Rectangle 14">
            <a:extLst>
              <a:ext uri="{FF2B5EF4-FFF2-40B4-BE49-F238E27FC236}">
                <a16:creationId xmlns:a16="http://schemas.microsoft.com/office/drawing/2014/main" id="{186A09E2-3172-3A94-9084-6E7A858F9A27}"/>
              </a:ext>
            </a:extLst>
          </p:cNvPr>
          <p:cNvSpPr/>
          <p:nvPr/>
        </p:nvSpPr>
        <p:spPr>
          <a:xfrm>
            <a:off x="5482232" y="532584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COURSE MANAGEMENT</a:t>
            </a:r>
            <a:endParaRPr lang="en-IN" dirty="0"/>
          </a:p>
        </p:txBody>
      </p:sp>
      <p:sp>
        <p:nvSpPr>
          <p:cNvPr id="16" name="Rectangle 15">
            <a:extLst>
              <a:ext uri="{FF2B5EF4-FFF2-40B4-BE49-F238E27FC236}">
                <a16:creationId xmlns:a16="http://schemas.microsoft.com/office/drawing/2014/main" id="{ADC3A552-70BF-D76B-5022-84C3AA72B908}"/>
              </a:ext>
            </a:extLst>
          </p:cNvPr>
          <p:cNvSpPr/>
          <p:nvPr/>
        </p:nvSpPr>
        <p:spPr>
          <a:xfrm>
            <a:off x="7067550" y="3805238"/>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BATCH MANAGEMENT</a:t>
            </a:r>
            <a:endParaRPr lang="en-IN" dirty="0"/>
          </a:p>
        </p:txBody>
      </p:sp>
      <p:sp>
        <p:nvSpPr>
          <p:cNvPr id="17" name="Rectangle 16">
            <a:extLst>
              <a:ext uri="{FF2B5EF4-FFF2-40B4-BE49-F238E27FC236}">
                <a16:creationId xmlns:a16="http://schemas.microsoft.com/office/drawing/2014/main" id="{EEB610B4-4F99-57A0-5DB6-9DFB1EFA663B}"/>
              </a:ext>
            </a:extLst>
          </p:cNvPr>
          <p:cNvSpPr/>
          <p:nvPr/>
        </p:nvSpPr>
        <p:spPr>
          <a:xfrm>
            <a:off x="7067550" y="2138660"/>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AGREEMENT DETAILS</a:t>
            </a:r>
            <a:endParaRPr lang="en-IN" dirty="0"/>
          </a:p>
        </p:txBody>
      </p:sp>
      <p:cxnSp>
        <p:nvCxnSpPr>
          <p:cNvPr id="19" name="Straight Arrow Connector 18">
            <a:extLst>
              <a:ext uri="{FF2B5EF4-FFF2-40B4-BE49-F238E27FC236}">
                <a16:creationId xmlns:a16="http://schemas.microsoft.com/office/drawing/2014/main" id="{18C87A6F-1D31-6C37-CA03-B7016899746D}"/>
              </a:ext>
            </a:extLst>
          </p:cNvPr>
          <p:cNvCxnSpPr>
            <a:cxnSpLocks/>
            <a:stCxn id="12" idx="2"/>
          </p:cNvCxnSpPr>
          <p:nvPr/>
        </p:nvCxnSpPr>
        <p:spPr>
          <a:xfrm>
            <a:off x="4852987" y="1314450"/>
            <a:ext cx="0" cy="1033760"/>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CAF080D-A65C-5935-6420-DF8862D74974}"/>
              </a:ext>
            </a:extLst>
          </p:cNvPr>
          <p:cNvCxnSpPr>
            <a:cxnSpLocks/>
            <a:endCxn id="3" idx="1"/>
          </p:cNvCxnSpPr>
          <p:nvPr/>
        </p:nvCxnSpPr>
        <p:spPr>
          <a:xfrm>
            <a:off x="2730103" y="2036318"/>
            <a:ext cx="1358137" cy="624350"/>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B3AA94A9-7514-18D6-5B5D-0F1D9D723BF4}"/>
              </a:ext>
            </a:extLst>
          </p:cNvPr>
          <p:cNvCxnSpPr>
            <a:cxnSpLocks/>
            <a:stCxn id="3" idx="2"/>
          </p:cNvCxnSpPr>
          <p:nvPr/>
        </p:nvCxnSpPr>
        <p:spPr>
          <a:xfrm flipH="1">
            <a:off x="2702719" y="3415010"/>
            <a:ext cx="1046559" cy="187845"/>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30FEAB87-E822-0448-105D-7C36B8B4F3EF}"/>
              </a:ext>
            </a:extLst>
          </p:cNvPr>
          <p:cNvCxnSpPr>
            <a:cxnSpLocks/>
            <a:stCxn id="3" idx="5"/>
            <a:endCxn id="15" idx="0"/>
          </p:cNvCxnSpPr>
          <p:nvPr/>
        </p:nvCxnSpPr>
        <p:spPr>
          <a:xfrm>
            <a:off x="5724891" y="4169352"/>
            <a:ext cx="814616" cy="1156492"/>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797012A-2326-A614-C0C1-A96631F60236}"/>
              </a:ext>
            </a:extLst>
          </p:cNvPr>
          <p:cNvCxnSpPr>
            <a:cxnSpLocks/>
            <a:endCxn id="16" idx="1"/>
          </p:cNvCxnSpPr>
          <p:nvPr/>
        </p:nvCxnSpPr>
        <p:spPr>
          <a:xfrm>
            <a:off x="6011465" y="3740647"/>
            <a:ext cx="1056085" cy="369391"/>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303D964-9EF5-AE5D-BD08-6E8937A61D46}"/>
              </a:ext>
            </a:extLst>
          </p:cNvPr>
          <p:cNvCxnSpPr>
            <a:cxnSpLocks/>
            <a:stCxn id="17" idx="1"/>
          </p:cNvCxnSpPr>
          <p:nvPr/>
        </p:nvCxnSpPr>
        <p:spPr>
          <a:xfrm flipH="1">
            <a:off x="6011465" y="2443460"/>
            <a:ext cx="1056085" cy="673894"/>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03E9F659-EA27-2DAE-40D5-8FBB298FEA5D}"/>
              </a:ext>
            </a:extLst>
          </p:cNvPr>
          <p:cNvSpPr txBox="1"/>
          <p:nvPr/>
        </p:nvSpPr>
        <p:spPr>
          <a:xfrm flipH="1">
            <a:off x="4257171" y="6240244"/>
            <a:ext cx="4592056" cy="369332"/>
          </a:xfrm>
          <a:prstGeom prst="rect">
            <a:avLst/>
          </a:prstGeom>
          <a:noFill/>
        </p:spPr>
        <p:txBody>
          <a:bodyPr wrap="square" rtlCol="0">
            <a:spAutoFit/>
          </a:bodyPr>
          <a:lstStyle/>
          <a:p>
            <a:r>
              <a:rPr lang="en-US" b="1" dirty="0">
                <a:latin typeface="TimesNewRomanPSMT"/>
              </a:rPr>
              <a:t>DFD</a:t>
            </a:r>
            <a:r>
              <a:rPr lang="en-US" dirty="0">
                <a:latin typeface="TimesNewRomanPSMT"/>
              </a:rPr>
              <a:t> </a:t>
            </a:r>
            <a:r>
              <a:rPr lang="en-US" b="1" dirty="0">
                <a:latin typeface="TimesNewRomanPSMT"/>
              </a:rPr>
              <a:t>LEVEL</a:t>
            </a:r>
            <a:r>
              <a:rPr lang="en-US" dirty="0">
                <a:latin typeface="TimesNewRomanPSMT"/>
              </a:rPr>
              <a:t> </a:t>
            </a:r>
            <a:r>
              <a:rPr lang="en-US" b="1" dirty="0">
                <a:latin typeface="TimesNewRomanPSMT"/>
              </a:rPr>
              <a:t>0</a:t>
            </a:r>
            <a:endParaRPr lang="en-IN" b="1" dirty="0">
              <a:latin typeface="TimesNewRomanPSMT"/>
            </a:endParaRPr>
          </a:p>
        </p:txBody>
      </p:sp>
      <p:sp>
        <p:nvSpPr>
          <p:cNvPr id="9" name="Rectangle 8">
            <a:extLst>
              <a:ext uri="{FF2B5EF4-FFF2-40B4-BE49-F238E27FC236}">
                <a16:creationId xmlns:a16="http://schemas.microsoft.com/office/drawing/2014/main" id="{3DAA9C61-ABB1-CE46-4E68-8B4D6E9EC76D}"/>
              </a:ext>
            </a:extLst>
          </p:cNvPr>
          <p:cNvSpPr/>
          <p:nvPr/>
        </p:nvSpPr>
        <p:spPr>
          <a:xfrm>
            <a:off x="1846731" y="532584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FRANCHISE MANAGEMENT </a:t>
            </a:r>
            <a:endParaRPr lang="en-IN" dirty="0"/>
          </a:p>
        </p:txBody>
      </p:sp>
      <p:cxnSp>
        <p:nvCxnSpPr>
          <p:cNvPr id="11" name="Straight Arrow Connector 10">
            <a:extLst>
              <a:ext uri="{FF2B5EF4-FFF2-40B4-BE49-F238E27FC236}">
                <a16:creationId xmlns:a16="http://schemas.microsoft.com/office/drawing/2014/main" id="{6E8D93CE-BE82-6A71-69E7-76563117EA11}"/>
              </a:ext>
            </a:extLst>
          </p:cNvPr>
          <p:cNvCxnSpPr>
            <a:cxnSpLocks/>
            <a:stCxn id="3" idx="3"/>
            <a:endCxn id="9" idx="0"/>
          </p:cNvCxnSpPr>
          <p:nvPr/>
        </p:nvCxnSpPr>
        <p:spPr>
          <a:xfrm flipH="1">
            <a:off x="2904006" y="4169352"/>
            <a:ext cx="1184234" cy="115649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9459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4599E83-7834-C8DA-25B5-804444120EA7}"/>
              </a:ext>
            </a:extLst>
          </p:cNvPr>
          <p:cNvSpPr/>
          <p:nvPr/>
        </p:nvSpPr>
        <p:spPr>
          <a:xfrm>
            <a:off x="3887098" y="2362200"/>
            <a:ext cx="2314575" cy="21336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0D28370B-70A3-A1A4-C6AA-507F7839E717}"/>
              </a:ext>
            </a:extLst>
          </p:cNvPr>
          <p:cNvSpPr txBox="1"/>
          <p:nvPr/>
        </p:nvSpPr>
        <p:spPr>
          <a:xfrm>
            <a:off x="4280539" y="2967335"/>
            <a:ext cx="1676400" cy="923330"/>
          </a:xfrm>
          <a:prstGeom prst="rect">
            <a:avLst/>
          </a:prstGeom>
          <a:noFill/>
        </p:spPr>
        <p:txBody>
          <a:bodyPr wrap="square" rtlCol="0">
            <a:spAutoFit/>
          </a:bodyPr>
          <a:lstStyle/>
          <a:p>
            <a:pPr algn="ctr"/>
            <a:r>
              <a:rPr lang="en-US" dirty="0"/>
              <a:t>FRANCHISE </a:t>
            </a:r>
          </a:p>
          <a:p>
            <a:pPr algn="ctr"/>
            <a:r>
              <a:rPr lang="en-US" dirty="0"/>
              <a:t>MANAGEMENT</a:t>
            </a:r>
          </a:p>
          <a:p>
            <a:pPr algn="ctr"/>
            <a:r>
              <a:rPr lang="en-US" dirty="0"/>
              <a:t>SYSTEM</a:t>
            </a:r>
            <a:endParaRPr lang="en-IN" dirty="0"/>
          </a:p>
        </p:txBody>
      </p:sp>
      <p:sp>
        <p:nvSpPr>
          <p:cNvPr id="4" name="Rectangle 3">
            <a:extLst>
              <a:ext uri="{FF2B5EF4-FFF2-40B4-BE49-F238E27FC236}">
                <a16:creationId xmlns:a16="http://schemas.microsoft.com/office/drawing/2014/main" id="{24F069F9-A405-4729-F7A7-FC28A0835119}"/>
              </a:ext>
            </a:extLst>
          </p:cNvPr>
          <p:cNvSpPr/>
          <p:nvPr/>
        </p:nvSpPr>
        <p:spPr>
          <a:xfrm>
            <a:off x="654843" y="1519486"/>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 MANAGEMENT</a:t>
            </a:r>
            <a:endParaRPr lang="en-IN" dirty="0"/>
          </a:p>
        </p:txBody>
      </p:sp>
      <p:sp>
        <p:nvSpPr>
          <p:cNvPr id="5" name="Rectangle 4">
            <a:extLst>
              <a:ext uri="{FF2B5EF4-FFF2-40B4-BE49-F238E27FC236}">
                <a16:creationId xmlns:a16="http://schemas.microsoft.com/office/drawing/2014/main" id="{EDE4CFA4-E744-E963-E0BE-1067A07BEC7C}"/>
              </a:ext>
            </a:extLst>
          </p:cNvPr>
          <p:cNvSpPr/>
          <p:nvPr/>
        </p:nvSpPr>
        <p:spPr>
          <a:xfrm>
            <a:off x="654843" y="56198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FACULTY MANAGEMENT</a:t>
            </a:r>
            <a:endParaRPr lang="en-IN" dirty="0"/>
          </a:p>
        </p:txBody>
      </p:sp>
      <p:sp>
        <p:nvSpPr>
          <p:cNvPr id="6" name="Rectangle 5">
            <a:extLst>
              <a:ext uri="{FF2B5EF4-FFF2-40B4-BE49-F238E27FC236}">
                <a16:creationId xmlns:a16="http://schemas.microsoft.com/office/drawing/2014/main" id="{89503B16-3A77-8BA3-C70D-1232F7BB46BE}"/>
              </a:ext>
            </a:extLst>
          </p:cNvPr>
          <p:cNvSpPr/>
          <p:nvPr/>
        </p:nvSpPr>
        <p:spPr>
          <a:xfrm>
            <a:off x="654843" y="2391409"/>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 MANAGEMENT</a:t>
            </a:r>
            <a:endParaRPr lang="en-IN" dirty="0"/>
          </a:p>
        </p:txBody>
      </p:sp>
      <p:sp>
        <p:nvSpPr>
          <p:cNvPr id="7" name="Rectangle 6">
            <a:extLst>
              <a:ext uri="{FF2B5EF4-FFF2-40B4-BE49-F238E27FC236}">
                <a16:creationId xmlns:a16="http://schemas.microsoft.com/office/drawing/2014/main" id="{FB67DDCE-A4E5-F13B-7F4D-F2219D89ADCB}"/>
              </a:ext>
            </a:extLst>
          </p:cNvPr>
          <p:cNvSpPr/>
          <p:nvPr/>
        </p:nvSpPr>
        <p:spPr>
          <a:xfrm>
            <a:off x="654843" y="4055907"/>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COURSE MANAGEMENT</a:t>
            </a:r>
            <a:endParaRPr lang="en-IN" dirty="0"/>
          </a:p>
        </p:txBody>
      </p:sp>
      <p:sp>
        <p:nvSpPr>
          <p:cNvPr id="8" name="Rectangle 7">
            <a:extLst>
              <a:ext uri="{FF2B5EF4-FFF2-40B4-BE49-F238E27FC236}">
                <a16:creationId xmlns:a16="http://schemas.microsoft.com/office/drawing/2014/main" id="{CE69C5E8-43F5-5669-61BC-2BF7AEE2139C}"/>
              </a:ext>
            </a:extLst>
          </p:cNvPr>
          <p:cNvSpPr/>
          <p:nvPr/>
        </p:nvSpPr>
        <p:spPr>
          <a:xfrm>
            <a:off x="654843" y="5686416"/>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BATCH MANAGEMENT</a:t>
            </a:r>
            <a:endParaRPr lang="en-IN" dirty="0"/>
          </a:p>
        </p:txBody>
      </p:sp>
      <p:sp>
        <p:nvSpPr>
          <p:cNvPr id="9" name="Rectangle 8">
            <a:extLst>
              <a:ext uri="{FF2B5EF4-FFF2-40B4-BE49-F238E27FC236}">
                <a16:creationId xmlns:a16="http://schemas.microsoft.com/office/drawing/2014/main" id="{69262884-2C87-D6B7-86E5-38B9E0934FCA}"/>
              </a:ext>
            </a:extLst>
          </p:cNvPr>
          <p:cNvSpPr/>
          <p:nvPr/>
        </p:nvSpPr>
        <p:spPr>
          <a:xfrm>
            <a:off x="654843" y="4918695"/>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AGREEMENT MANAGEMENT </a:t>
            </a:r>
            <a:endParaRPr lang="en-IN" dirty="0"/>
          </a:p>
        </p:txBody>
      </p:sp>
      <p:sp>
        <p:nvSpPr>
          <p:cNvPr id="16" name="Rectangle 15">
            <a:extLst>
              <a:ext uri="{FF2B5EF4-FFF2-40B4-BE49-F238E27FC236}">
                <a16:creationId xmlns:a16="http://schemas.microsoft.com/office/drawing/2014/main" id="{77FCFBF7-EA7A-4CA9-BA50-2B044CD7F822}"/>
              </a:ext>
            </a:extLst>
          </p:cNvPr>
          <p:cNvSpPr/>
          <p:nvPr/>
        </p:nvSpPr>
        <p:spPr>
          <a:xfrm>
            <a:off x="654843" y="3233498"/>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FRANCHISE MANAGEMENT </a:t>
            </a:r>
            <a:endParaRPr lang="en-IN" dirty="0"/>
          </a:p>
        </p:txBody>
      </p:sp>
      <p:sp>
        <p:nvSpPr>
          <p:cNvPr id="45" name="Rectangle 44">
            <a:extLst>
              <a:ext uri="{FF2B5EF4-FFF2-40B4-BE49-F238E27FC236}">
                <a16:creationId xmlns:a16="http://schemas.microsoft.com/office/drawing/2014/main" id="{28A76C66-FD43-A266-01D3-222EDD38BF89}"/>
              </a:ext>
            </a:extLst>
          </p:cNvPr>
          <p:cNvSpPr/>
          <p:nvPr/>
        </p:nvSpPr>
        <p:spPr>
          <a:xfrm>
            <a:off x="7581268" y="1519486"/>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 DETAILS</a:t>
            </a:r>
            <a:endParaRPr lang="en-IN" dirty="0"/>
          </a:p>
        </p:txBody>
      </p:sp>
      <p:sp>
        <p:nvSpPr>
          <p:cNvPr id="46" name="Rectangle 45">
            <a:extLst>
              <a:ext uri="{FF2B5EF4-FFF2-40B4-BE49-F238E27FC236}">
                <a16:creationId xmlns:a16="http://schemas.microsoft.com/office/drawing/2014/main" id="{ABC5C2F3-184F-CCF2-A459-798FED4E37D8}"/>
              </a:ext>
            </a:extLst>
          </p:cNvPr>
          <p:cNvSpPr/>
          <p:nvPr/>
        </p:nvSpPr>
        <p:spPr>
          <a:xfrm>
            <a:off x="7581268" y="56198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FACULTY DETAILS</a:t>
            </a:r>
            <a:endParaRPr lang="en-IN" dirty="0"/>
          </a:p>
        </p:txBody>
      </p:sp>
      <p:sp>
        <p:nvSpPr>
          <p:cNvPr id="47" name="Rectangle 46">
            <a:extLst>
              <a:ext uri="{FF2B5EF4-FFF2-40B4-BE49-F238E27FC236}">
                <a16:creationId xmlns:a16="http://schemas.microsoft.com/office/drawing/2014/main" id="{DCCA7A7E-059D-5DD5-39B1-FE7E9FA5B8CA}"/>
              </a:ext>
            </a:extLst>
          </p:cNvPr>
          <p:cNvSpPr/>
          <p:nvPr/>
        </p:nvSpPr>
        <p:spPr>
          <a:xfrm>
            <a:off x="7581268" y="2391409"/>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 DETAILS</a:t>
            </a:r>
            <a:endParaRPr lang="en-IN" dirty="0"/>
          </a:p>
        </p:txBody>
      </p:sp>
      <p:sp>
        <p:nvSpPr>
          <p:cNvPr id="48" name="Rectangle 47">
            <a:extLst>
              <a:ext uri="{FF2B5EF4-FFF2-40B4-BE49-F238E27FC236}">
                <a16:creationId xmlns:a16="http://schemas.microsoft.com/office/drawing/2014/main" id="{337DD96F-F1AF-450A-DB5F-D7FBD1216B54}"/>
              </a:ext>
            </a:extLst>
          </p:cNvPr>
          <p:cNvSpPr/>
          <p:nvPr/>
        </p:nvSpPr>
        <p:spPr>
          <a:xfrm>
            <a:off x="7581268" y="4055907"/>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COURSE DETAILS</a:t>
            </a:r>
            <a:endParaRPr lang="en-IN" dirty="0"/>
          </a:p>
        </p:txBody>
      </p:sp>
      <p:sp>
        <p:nvSpPr>
          <p:cNvPr id="49" name="Rectangle 48">
            <a:extLst>
              <a:ext uri="{FF2B5EF4-FFF2-40B4-BE49-F238E27FC236}">
                <a16:creationId xmlns:a16="http://schemas.microsoft.com/office/drawing/2014/main" id="{83FA0E18-5655-ED4C-4A57-028360EFEC28}"/>
              </a:ext>
            </a:extLst>
          </p:cNvPr>
          <p:cNvSpPr/>
          <p:nvPr/>
        </p:nvSpPr>
        <p:spPr>
          <a:xfrm>
            <a:off x="7581268" y="5686416"/>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BATCH DETAILS</a:t>
            </a:r>
            <a:endParaRPr lang="en-IN" dirty="0"/>
          </a:p>
        </p:txBody>
      </p:sp>
      <p:sp>
        <p:nvSpPr>
          <p:cNvPr id="50" name="Rectangle 49">
            <a:extLst>
              <a:ext uri="{FF2B5EF4-FFF2-40B4-BE49-F238E27FC236}">
                <a16:creationId xmlns:a16="http://schemas.microsoft.com/office/drawing/2014/main" id="{551B09C5-0227-113F-54F8-53CDDC423BCD}"/>
              </a:ext>
            </a:extLst>
          </p:cNvPr>
          <p:cNvSpPr/>
          <p:nvPr/>
        </p:nvSpPr>
        <p:spPr>
          <a:xfrm>
            <a:off x="7581268" y="4918695"/>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AGREEMENT DETAILS</a:t>
            </a:r>
            <a:endParaRPr lang="en-IN" dirty="0"/>
          </a:p>
        </p:txBody>
      </p:sp>
      <p:sp>
        <p:nvSpPr>
          <p:cNvPr id="51" name="Rectangle 50">
            <a:extLst>
              <a:ext uri="{FF2B5EF4-FFF2-40B4-BE49-F238E27FC236}">
                <a16:creationId xmlns:a16="http://schemas.microsoft.com/office/drawing/2014/main" id="{3A5860A3-0A05-5BC4-A1A0-0CD6250FD19F}"/>
              </a:ext>
            </a:extLst>
          </p:cNvPr>
          <p:cNvSpPr/>
          <p:nvPr/>
        </p:nvSpPr>
        <p:spPr>
          <a:xfrm>
            <a:off x="7581268" y="3233498"/>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FRANCHISE DETAILS </a:t>
            </a:r>
            <a:endParaRPr lang="en-IN" dirty="0"/>
          </a:p>
        </p:txBody>
      </p:sp>
      <p:sp>
        <p:nvSpPr>
          <p:cNvPr id="80" name="TextBox 79">
            <a:extLst>
              <a:ext uri="{FF2B5EF4-FFF2-40B4-BE49-F238E27FC236}">
                <a16:creationId xmlns:a16="http://schemas.microsoft.com/office/drawing/2014/main" id="{A5EB2500-9BF2-14B0-8C8B-9108F7B369B8}"/>
              </a:ext>
            </a:extLst>
          </p:cNvPr>
          <p:cNvSpPr txBox="1"/>
          <p:nvPr/>
        </p:nvSpPr>
        <p:spPr>
          <a:xfrm>
            <a:off x="3887098" y="6330963"/>
            <a:ext cx="2687217" cy="369332"/>
          </a:xfrm>
          <a:prstGeom prst="rect">
            <a:avLst/>
          </a:prstGeom>
          <a:noFill/>
        </p:spPr>
        <p:txBody>
          <a:bodyPr wrap="square" rtlCol="0">
            <a:spAutoFit/>
          </a:bodyPr>
          <a:lstStyle/>
          <a:p>
            <a:pPr algn="ctr"/>
            <a:r>
              <a:rPr lang="en-US" b="1" dirty="0">
                <a:latin typeface="TimesNewRomanPSMT"/>
              </a:rPr>
              <a:t>DFD LEVEL 1</a:t>
            </a:r>
            <a:endParaRPr lang="en-IN" b="1" dirty="0">
              <a:latin typeface="TimesNewRomanPSMT"/>
            </a:endParaRPr>
          </a:p>
        </p:txBody>
      </p:sp>
      <p:cxnSp>
        <p:nvCxnSpPr>
          <p:cNvPr id="19" name="Straight Arrow Connector 18">
            <a:extLst>
              <a:ext uri="{FF2B5EF4-FFF2-40B4-BE49-F238E27FC236}">
                <a16:creationId xmlns:a16="http://schemas.microsoft.com/office/drawing/2014/main" id="{1C5D3282-B6CC-E7CD-A1F3-27A4DC0BBF4B}"/>
              </a:ext>
            </a:extLst>
          </p:cNvPr>
          <p:cNvCxnSpPr>
            <a:cxnSpLocks/>
            <a:stCxn id="5" idx="3"/>
          </p:cNvCxnSpPr>
          <p:nvPr/>
        </p:nvCxnSpPr>
        <p:spPr>
          <a:xfrm>
            <a:off x="2769393" y="866784"/>
            <a:ext cx="1606664" cy="1680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F5E5876C-42A9-10E9-D7DE-C06906A8DEEA}"/>
              </a:ext>
            </a:extLst>
          </p:cNvPr>
          <p:cNvCxnSpPr>
            <a:cxnSpLocks/>
            <a:endCxn id="49" idx="1"/>
          </p:cNvCxnSpPr>
          <p:nvPr/>
        </p:nvCxnSpPr>
        <p:spPr>
          <a:xfrm>
            <a:off x="5747657" y="4301002"/>
            <a:ext cx="1833611" cy="1690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BC3CC257-A644-78B5-BE1E-2FDF40BD194B}"/>
              </a:ext>
            </a:extLst>
          </p:cNvPr>
          <p:cNvCxnSpPr>
            <a:cxnSpLocks/>
            <a:endCxn id="50" idx="1"/>
          </p:cNvCxnSpPr>
          <p:nvPr/>
        </p:nvCxnSpPr>
        <p:spPr>
          <a:xfrm>
            <a:off x="6001648" y="4055907"/>
            <a:ext cx="1579620" cy="1167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36F04674-5B26-89B8-F916-0AC71FEF00B0}"/>
              </a:ext>
            </a:extLst>
          </p:cNvPr>
          <p:cNvCxnSpPr>
            <a:cxnSpLocks/>
            <a:endCxn id="48" idx="1"/>
          </p:cNvCxnSpPr>
          <p:nvPr/>
        </p:nvCxnSpPr>
        <p:spPr>
          <a:xfrm>
            <a:off x="6144475" y="3751107"/>
            <a:ext cx="1436793" cy="609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2651EA31-B85E-0B23-1C7C-50BBF0D09F71}"/>
              </a:ext>
            </a:extLst>
          </p:cNvPr>
          <p:cNvCxnSpPr>
            <a:cxnSpLocks/>
            <a:stCxn id="2" idx="6"/>
            <a:endCxn id="51" idx="1"/>
          </p:cNvCxnSpPr>
          <p:nvPr/>
        </p:nvCxnSpPr>
        <p:spPr>
          <a:xfrm>
            <a:off x="6201673" y="3429000"/>
            <a:ext cx="1379595" cy="109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D03F233-272C-A492-B52C-474690B1DA9A}"/>
              </a:ext>
            </a:extLst>
          </p:cNvPr>
          <p:cNvCxnSpPr>
            <a:cxnSpLocks/>
          </p:cNvCxnSpPr>
          <p:nvPr/>
        </p:nvCxnSpPr>
        <p:spPr>
          <a:xfrm flipV="1">
            <a:off x="6144475" y="2668962"/>
            <a:ext cx="1424278" cy="3659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1C43CC1-2330-7C55-32FB-3EB5325E1745}"/>
              </a:ext>
            </a:extLst>
          </p:cNvPr>
          <p:cNvCxnSpPr>
            <a:cxnSpLocks/>
            <a:stCxn id="2" idx="7"/>
            <a:endCxn id="45" idx="1"/>
          </p:cNvCxnSpPr>
          <p:nvPr/>
        </p:nvCxnSpPr>
        <p:spPr>
          <a:xfrm flipV="1">
            <a:off x="5862711" y="1824286"/>
            <a:ext cx="1718557" cy="850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FD4EAA-E5DD-40A4-7932-99DF73060B8D}"/>
              </a:ext>
            </a:extLst>
          </p:cNvPr>
          <p:cNvCxnSpPr>
            <a:cxnSpLocks/>
            <a:endCxn id="46" idx="1"/>
          </p:cNvCxnSpPr>
          <p:nvPr/>
        </p:nvCxnSpPr>
        <p:spPr>
          <a:xfrm flipV="1">
            <a:off x="5442857" y="866784"/>
            <a:ext cx="2138411" cy="1557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22106DAE-0D16-EEAD-661B-058B6EA0FF69}"/>
              </a:ext>
            </a:extLst>
          </p:cNvPr>
          <p:cNvCxnSpPr>
            <a:cxnSpLocks/>
            <a:stCxn id="8" idx="3"/>
          </p:cNvCxnSpPr>
          <p:nvPr/>
        </p:nvCxnSpPr>
        <p:spPr>
          <a:xfrm flipV="1">
            <a:off x="2769393" y="4301002"/>
            <a:ext cx="1606664" cy="1690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8B0C386-2930-90E9-4F59-9C4B7848DD87}"/>
              </a:ext>
            </a:extLst>
          </p:cNvPr>
          <p:cNvCxnSpPr>
            <a:cxnSpLocks/>
            <a:stCxn id="9" idx="3"/>
            <a:endCxn id="2" idx="3"/>
          </p:cNvCxnSpPr>
          <p:nvPr/>
        </p:nvCxnSpPr>
        <p:spPr>
          <a:xfrm flipV="1">
            <a:off x="2769393" y="4183342"/>
            <a:ext cx="1456667" cy="10401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59C81B71-B9A0-721A-38D3-1B15000A73A6}"/>
              </a:ext>
            </a:extLst>
          </p:cNvPr>
          <p:cNvCxnSpPr>
            <a:cxnSpLocks/>
            <a:stCxn id="7" idx="3"/>
          </p:cNvCxnSpPr>
          <p:nvPr/>
        </p:nvCxnSpPr>
        <p:spPr>
          <a:xfrm flipV="1">
            <a:off x="2769393" y="3809559"/>
            <a:ext cx="1219200" cy="551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F35CE7F-D0EB-09D6-2F4F-7A174D1E1B48}"/>
              </a:ext>
            </a:extLst>
          </p:cNvPr>
          <p:cNvCxnSpPr>
            <a:cxnSpLocks/>
            <a:stCxn id="16" idx="3"/>
            <a:endCxn id="2" idx="2"/>
          </p:cNvCxnSpPr>
          <p:nvPr/>
        </p:nvCxnSpPr>
        <p:spPr>
          <a:xfrm flipV="1">
            <a:off x="2769393" y="3429000"/>
            <a:ext cx="1117705" cy="109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1C418795-1969-C8B4-181E-50B77C330AEF}"/>
              </a:ext>
            </a:extLst>
          </p:cNvPr>
          <p:cNvCxnSpPr>
            <a:cxnSpLocks/>
            <a:stCxn id="6" idx="3"/>
          </p:cNvCxnSpPr>
          <p:nvPr/>
        </p:nvCxnSpPr>
        <p:spPr>
          <a:xfrm>
            <a:off x="2769393" y="2696209"/>
            <a:ext cx="1219200" cy="393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3B936368-6412-6EAF-DF21-B32248C53444}"/>
              </a:ext>
            </a:extLst>
          </p:cNvPr>
          <p:cNvCxnSpPr>
            <a:cxnSpLocks/>
            <a:stCxn id="4" idx="3"/>
            <a:endCxn id="2" idx="1"/>
          </p:cNvCxnSpPr>
          <p:nvPr/>
        </p:nvCxnSpPr>
        <p:spPr>
          <a:xfrm>
            <a:off x="2769393" y="1824286"/>
            <a:ext cx="1456667" cy="850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78841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829DFC3-7210-8611-D1E2-0BF10D4EF77D}"/>
              </a:ext>
            </a:extLst>
          </p:cNvPr>
          <p:cNvSpPr/>
          <p:nvPr/>
        </p:nvSpPr>
        <p:spPr>
          <a:xfrm>
            <a:off x="4747571" y="2767633"/>
            <a:ext cx="1676400" cy="142020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600" dirty="0">
              <a:latin typeface="TimesNewRomanPSMT"/>
            </a:endParaRPr>
          </a:p>
        </p:txBody>
      </p:sp>
      <p:sp>
        <p:nvSpPr>
          <p:cNvPr id="3" name="TextBox 2">
            <a:extLst>
              <a:ext uri="{FF2B5EF4-FFF2-40B4-BE49-F238E27FC236}">
                <a16:creationId xmlns:a16="http://schemas.microsoft.com/office/drawing/2014/main" id="{4231D617-99E5-A806-C632-14B270E6A2C9}"/>
              </a:ext>
            </a:extLst>
          </p:cNvPr>
          <p:cNvSpPr txBox="1"/>
          <p:nvPr/>
        </p:nvSpPr>
        <p:spPr>
          <a:xfrm>
            <a:off x="5071008" y="3202151"/>
            <a:ext cx="1172353" cy="584775"/>
          </a:xfrm>
          <a:prstGeom prst="rect">
            <a:avLst/>
          </a:prstGeom>
          <a:noFill/>
        </p:spPr>
        <p:txBody>
          <a:bodyPr wrap="square" rtlCol="0">
            <a:spAutoFit/>
          </a:bodyPr>
          <a:lstStyle/>
          <a:p>
            <a:r>
              <a:rPr lang="en-US" sz="1600" dirty="0">
                <a:latin typeface="TimesNewRomanPSMT"/>
              </a:rPr>
              <a:t>MANAGE MODULES</a:t>
            </a:r>
            <a:endParaRPr lang="en-IN" sz="1600" dirty="0">
              <a:latin typeface="TimesNewRomanPSMT"/>
            </a:endParaRPr>
          </a:p>
        </p:txBody>
      </p:sp>
      <p:sp>
        <p:nvSpPr>
          <p:cNvPr id="4" name="Rectangle 3">
            <a:extLst>
              <a:ext uri="{FF2B5EF4-FFF2-40B4-BE49-F238E27FC236}">
                <a16:creationId xmlns:a16="http://schemas.microsoft.com/office/drawing/2014/main" id="{F1EDA531-179B-AC71-1355-DB2944CA5B6B}"/>
              </a:ext>
            </a:extLst>
          </p:cNvPr>
          <p:cNvSpPr/>
          <p:nvPr/>
        </p:nvSpPr>
        <p:spPr>
          <a:xfrm>
            <a:off x="7909347" y="2204101"/>
            <a:ext cx="2365164"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LOGIN CREDENTIALS </a:t>
            </a:r>
            <a:endParaRPr lang="en-IN" sz="1600" dirty="0">
              <a:latin typeface="TimesNewRomanPSMT"/>
            </a:endParaRPr>
          </a:p>
        </p:txBody>
      </p:sp>
      <p:sp>
        <p:nvSpPr>
          <p:cNvPr id="5" name="Rectangle 4">
            <a:extLst>
              <a:ext uri="{FF2B5EF4-FFF2-40B4-BE49-F238E27FC236}">
                <a16:creationId xmlns:a16="http://schemas.microsoft.com/office/drawing/2014/main" id="{E2F82266-745D-8EDA-EFA0-062784B58859}"/>
              </a:ext>
            </a:extLst>
          </p:cNvPr>
          <p:cNvSpPr/>
          <p:nvPr/>
        </p:nvSpPr>
        <p:spPr>
          <a:xfrm>
            <a:off x="7909346" y="1511015"/>
            <a:ext cx="2365159"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FACULTY DETAILS</a:t>
            </a:r>
            <a:endParaRPr lang="en-IN" sz="1600" dirty="0">
              <a:latin typeface="TimesNewRomanPSMT"/>
            </a:endParaRPr>
          </a:p>
        </p:txBody>
      </p:sp>
      <p:sp>
        <p:nvSpPr>
          <p:cNvPr id="6" name="Rectangle 5">
            <a:extLst>
              <a:ext uri="{FF2B5EF4-FFF2-40B4-BE49-F238E27FC236}">
                <a16:creationId xmlns:a16="http://schemas.microsoft.com/office/drawing/2014/main" id="{B3BE729B-0D73-03E9-6599-7F347029DB2D}"/>
              </a:ext>
            </a:extLst>
          </p:cNvPr>
          <p:cNvSpPr/>
          <p:nvPr/>
        </p:nvSpPr>
        <p:spPr>
          <a:xfrm>
            <a:off x="7920234" y="2915717"/>
            <a:ext cx="2365164"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STUDENT DETAILS</a:t>
            </a:r>
            <a:endParaRPr lang="en-IN" sz="1600" dirty="0">
              <a:latin typeface="TimesNewRomanPSMT"/>
            </a:endParaRPr>
          </a:p>
        </p:txBody>
      </p:sp>
      <p:sp>
        <p:nvSpPr>
          <p:cNvPr id="7" name="Rectangle 6">
            <a:extLst>
              <a:ext uri="{FF2B5EF4-FFF2-40B4-BE49-F238E27FC236}">
                <a16:creationId xmlns:a16="http://schemas.microsoft.com/office/drawing/2014/main" id="{9D2FAE81-4BA3-7D75-AB1F-94CFA97088E9}"/>
              </a:ext>
            </a:extLst>
          </p:cNvPr>
          <p:cNvSpPr/>
          <p:nvPr/>
        </p:nvSpPr>
        <p:spPr>
          <a:xfrm>
            <a:off x="7958820" y="4429147"/>
            <a:ext cx="2326578"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COURSE DETAILS</a:t>
            </a:r>
            <a:endParaRPr lang="en-IN" sz="1600" dirty="0">
              <a:latin typeface="TimesNewRomanPSMT"/>
            </a:endParaRPr>
          </a:p>
        </p:txBody>
      </p:sp>
      <p:sp>
        <p:nvSpPr>
          <p:cNvPr id="8" name="Rectangle 7">
            <a:extLst>
              <a:ext uri="{FF2B5EF4-FFF2-40B4-BE49-F238E27FC236}">
                <a16:creationId xmlns:a16="http://schemas.microsoft.com/office/drawing/2014/main" id="{616B61CB-D2B1-C261-3B7D-B3892B91213C}"/>
              </a:ext>
            </a:extLst>
          </p:cNvPr>
          <p:cNvSpPr/>
          <p:nvPr/>
        </p:nvSpPr>
        <p:spPr>
          <a:xfrm>
            <a:off x="5696553" y="549798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BATCH DETAILS</a:t>
            </a:r>
            <a:endParaRPr lang="en-IN" sz="1600" dirty="0">
              <a:latin typeface="TimesNewRomanPSMT"/>
            </a:endParaRPr>
          </a:p>
        </p:txBody>
      </p:sp>
      <p:sp>
        <p:nvSpPr>
          <p:cNvPr id="9" name="Rectangle 8">
            <a:extLst>
              <a:ext uri="{FF2B5EF4-FFF2-40B4-BE49-F238E27FC236}">
                <a16:creationId xmlns:a16="http://schemas.microsoft.com/office/drawing/2014/main" id="{B6FA171A-C1A2-F1D2-FE52-454ADBDD3E69}"/>
              </a:ext>
            </a:extLst>
          </p:cNvPr>
          <p:cNvSpPr/>
          <p:nvPr/>
        </p:nvSpPr>
        <p:spPr>
          <a:xfrm>
            <a:off x="7920234" y="5165713"/>
            <a:ext cx="2365164"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AGREEMENT DETAILS</a:t>
            </a:r>
            <a:endParaRPr lang="en-IN" sz="1600" dirty="0">
              <a:latin typeface="TimesNewRomanPSMT"/>
            </a:endParaRPr>
          </a:p>
        </p:txBody>
      </p:sp>
      <p:sp>
        <p:nvSpPr>
          <p:cNvPr id="10" name="Rectangle 9">
            <a:extLst>
              <a:ext uri="{FF2B5EF4-FFF2-40B4-BE49-F238E27FC236}">
                <a16:creationId xmlns:a16="http://schemas.microsoft.com/office/drawing/2014/main" id="{F8BED3A0-74F5-3738-3460-D19CB5546315}"/>
              </a:ext>
            </a:extLst>
          </p:cNvPr>
          <p:cNvSpPr/>
          <p:nvPr/>
        </p:nvSpPr>
        <p:spPr>
          <a:xfrm>
            <a:off x="7922222" y="3637483"/>
            <a:ext cx="2365165"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FRANCHISE DETAILS </a:t>
            </a:r>
            <a:endParaRPr lang="en-IN" sz="1600" dirty="0">
              <a:latin typeface="TimesNewRomanPSMT"/>
            </a:endParaRPr>
          </a:p>
        </p:txBody>
      </p:sp>
      <p:sp>
        <p:nvSpPr>
          <p:cNvPr id="21" name="Rectangle 20">
            <a:extLst>
              <a:ext uri="{FF2B5EF4-FFF2-40B4-BE49-F238E27FC236}">
                <a16:creationId xmlns:a16="http://schemas.microsoft.com/office/drawing/2014/main" id="{48AE5969-B685-036C-3204-BEB0FEB0A0DC}"/>
              </a:ext>
            </a:extLst>
          </p:cNvPr>
          <p:cNvSpPr/>
          <p:nvPr/>
        </p:nvSpPr>
        <p:spPr>
          <a:xfrm>
            <a:off x="294545" y="799185"/>
            <a:ext cx="953132" cy="5732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ADMIN</a:t>
            </a:r>
            <a:endParaRPr lang="en-IN" sz="1600" dirty="0">
              <a:latin typeface="TimesNewRomanPSMT"/>
            </a:endParaRPr>
          </a:p>
        </p:txBody>
      </p:sp>
      <p:sp>
        <p:nvSpPr>
          <p:cNvPr id="22" name="Flowchart: Connector 21">
            <a:extLst>
              <a:ext uri="{FF2B5EF4-FFF2-40B4-BE49-F238E27FC236}">
                <a16:creationId xmlns:a16="http://schemas.microsoft.com/office/drawing/2014/main" id="{5F22335C-F37B-C8AD-6B7C-9E4BBF9F3157}"/>
              </a:ext>
            </a:extLst>
          </p:cNvPr>
          <p:cNvSpPr/>
          <p:nvPr/>
        </p:nvSpPr>
        <p:spPr>
          <a:xfrm>
            <a:off x="2235377" y="417704"/>
            <a:ext cx="1484052" cy="1336202"/>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LOGIN TO SYSTEM</a:t>
            </a:r>
            <a:endParaRPr lang="en-IN" sz="1600" dirty="0">
              <a:latin typeface="TimesNewRomanPSMT"/>
            </a:endParaRPr>
          </a:p>
        </p:txBody>
      </p:sp>
      <p:sp>
        <p:nvSpPr>
          <p:cNvPr id="23" name="Flowchart: Connector 22">
            <a:extLst>
              <a:ext uri="{FF2B5EF4-FFF2-40B4-BE49-F238E27FC236}">
                <a16:creationId xmlns:a16="http://schemas.microsoft.com/office/drawing/2014/main" id="{17D57941-4384-BFB5-1C37-238A5AD92836}"/>
              </a:ext>
            </a:extLst>
          </p:cNvPr>
          <p:cNvSpPr/>
          <p:nvPr/>
        </p:nvSpPr>
        <p:spPr>
          <a:xfrm>
            <a:off x="4843744" y="335957"/>
            <a:ext cx="1484053" cy="1336203"/>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CHECK ROLE TO ACCESS </a:t>
            </a:r>
            <a:endParaRPr lang="en-IN" sz="1600" dirty="0">
              <a:latin typeface="TimesNewRomanPSMT"/>
            </a:endParaRPr>
          </a:p>
        </p:txBody>
      </p:sp>
      <p:sp>
        <p:nvSpPr>
          <p:cNvPr id="24" name="Flowchart: Connector 23">
            <a:extLst>
              <a:ext uri="{FF2B5EF4-FFF2-40B4-BE49-F238E27FC236}">
                <a16:creationId xmlns:a16="http://schemas.microsoft.com/office/drawing/2014/main" id="{F834E3FA-4D9A-1640-2311-6B7CDE9F9D4B}"/>
              </a:ext>
            </a:extLst>
          </p:cNvPr>
          <p:cNvSpPr/>
          <p:nvPr/>
        </p:nvSpPr>
        <p:spPr>
          <a:xfrm>
            <a:off x="2232538" y="2273961"/>
            <a:ext cx="1484053" cy="1336203"/>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CHECK DETAILS </a:t>
            </a:r>
            <a:endParaRPr lang="en-IN" sz="1600" dirty="0">
              <a:latin typeface="TimesNewRomanPSMT"/>
            </a:endParaRPr>
          </a:p>
        </p:txBody>
      </p:sp>
      <p:cxnSp>
        <p:nvCxnSpPr>
          <p:cNvPr id="54" name="Straight Arrow Connector 53">
            <a:extLst>
              <a:ext uri="{FF2B5EF4-FFF2-40B4-BE49-F238E27FC236}">
                <a16:creationId xmlns:a16="http://schemas.microsoft.com/office/drawing/2014/main" id="{B1447188-4684-753C-561D-404A784C4E2C}"/>
              </a:ext>
            </a:extLst>
          </p:cNvPr>
          <p:cNvCxnSpPr>
            <a:cxnSpLocks/>
            <a:stCxn id="21" idx="3"/>
            <a:endCxn id="22" idx="2"/>
          </p:cNvCxnSpPr>
          <p:nvPr/>
        </p:nvCxnSpPr>
        <p:spPr>
          <a:xfrm>
            <a:off x="1247677" y="1085805"/>
            <a:ext cx="9877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F8EF3299-7B89-9B6D-298A-0A8C0DE1089D}"/>
              </a:ext>
            </a:extLst>
          </p:cNvPr>
          <p:cNvCxnSpPr>
            <a:cxnSpLocks/>
            <a:stCxn id="22" idx="4"/>
            <a:endCxn id="24" idx="0"/>
          </p:cNvCxnSpPr>
          <p:nvPr/>
        </p:nvCxnSpPr>
        <p:spPr>
          <a:xfrm flipH="1">
            <a:off x="2974565" y="1753906"/>
            <a:ext cx="2838" cy="520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5D879A11-2EBA-56A0-7EEA-5294C0F99A5E}"/>
              </a:ext>
            </a:extLst>
          </p:cNvPr>
          <p:cNvCxnSpPr>
            <a:cxnSpLocks/>
            <a:stCxn id="24" idx="6"/>
            <a:endCxn id="23" idx="3"/>
          </p:cNvCxnSpPr>
          <p:nvPr/>
        </p:nvCxnSpPr>
        <p:spPr>
          <a:xfrm flipV="1">
            <a:off x="3716591" y="1476478"/>
            <a:ext cx="1344488" cy="14655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AA100B93-EF73-F693-E1B8-A5E10E808A5D}"/>
              </a:ext>
            </a:extLst>
          </p:cNvPr>
          <p:cNvCxnSpPr>
            <a:cxnSpLocks/>
            <a:stCxn id="23" idx="4"/>
            <a:endCxn id="2" idx="0"/>
          </p:cNvCxnSpPr>
          <p:nvPr/>
        </p:nvCxnSpPr>
        <p:spPr>
          <a:xfrm>
            <a:off x="5585771" y="1672160"/>
            <a:ext cx="0" cy="10954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6" name="Rectangle 85">
            <a:extLst>
              <a:ext uri="{FF2B5EF4-FFF2-40B4-BE49-F238E27FC236}">
                <a16:creationId xmlns:a16="http://schemas.microsoft.com/office/drawing/2014/main" id="{1296A249-A262-02E7-BB79-FE08F4101BE7}"/>
              </a:ext>
            </a:extLst>
          </p:cNvPr>
          <p:cNvSpPr/>
          <p:nvPr/>
        </p:nvSpPr>
        <p:spPr>
          <a:xfrm>
            <a:off x="3536796" y="5479863"/>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ROLE OF USERS</a:t>
            </a:r>
            <a:endParaRPr lang="en-IN" sz="1600" dirty="0">
              <a:latin typeface="TimesNewRomanPSMT"/>
            </a:endParaRPr>
          </a:p>
        </p:txBody>
      </p:sp>
      <p:sp>
        <p:nvSpPr>
          <p:cNvPr id="87" name="Rectangle 86">
            <a:extLst>
              <a:ext uri="{FF2B5EF4-FFF2-40B4-BE49-F238E27FC236}">
                <a16:creationId xmlns:a16="http://schemas.microsoft.com/office/drawing/2014/main" id="{F240D0D2-0E78-7890-3D6F-53AC0F028FDB}"/>
              </a:ext>
            </a:extLst>
          </p:cNvPr>
          <p:cNvSpPr/>
          <p:nvPr/>
        </p:nvSpPr>
        <p:spPr>
          <a:xfrm>
            <a:off x="1319063" y="5474654"/>
            <a:ext cx="2114550" cy="609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imesNewRomanPSMT"/>
              </a:rPr>
              <a:t>MANAGE SYSTEM</a:t>
            </a:r>
            <a:endParaRPr lang="en-IN" sz="1600" dirty="0">
              <a:latin typeface="TimesNewRomanPSMT"/>
            </a:endParaRPr>
          </a:p>
        </p:txBody>
      </p:sp>
      <p:sp>
        <p:nvSpPr>
          <p:cNvPr id="94" name="TextBox 93">
            <a:extLst>
              <a:ext uri="{FF2B5EF4-FFF2-40B4-BE49-F238E27FC236}">
                <a16:creationId xmlns:a16="http://schemas.microsoft.com/office/drawing/2014/main" id="{B590CD96-3F97-B69F-2705-3159F3B5AC8E}"/>
              </a:ext>
            </a:extLst>
          </p:cNvPr>
          <p:cNvSpPr txBox="1"/>
          <p:nvPr/>
        </p:nvSpPr>
        <p:spPr>
          <a:xfrm>
            <a:off x="4789819" y="6390701"/>
            <a:ext cx="1723053" cy="369332"/>
          </a:xfrm>
          <a:prstGeom prst="rect">
            <a:avLst/>
          </a:prstGeom>
          <a:noFill/>
        </p:spPr>
        <p:txBody>
          <a:bodyPr wrap="square" rtlCol="0">
            <a:spAutoFit/>
          </a:bodyPr>
          <a:lstStyle/>
          <a:p>
            <a:r>
              <a:rPr lang="en-IN" b="1" dirty="0">
                <a:latin typeface="TimesNewRomanPSMT"/>
              </a:rPr>
              <a:t>DFD LEVEL 2</a:t>
            </a:r>
          </a:p>
        </p:txBody>
      </p:sp>
      <p:cxnSp>
        <p:nvCxnSpPr>
          <p:cNvPr id="18" name="Straight Arrow Connector 17">
            <a:extLst>
              <a:ext uri="{FF2B5EF4-FFF2-40B4-BE49-F238E27FC236}">
                <a16:creationId xmlns:a16="http://schemas.microsoft.com/office/drawing/2014/main" id="{E0FB54F7-F6E0-C583-925F-E9A56EB8425D}"/>
              </a:ext>
            </a:extLst>
          </p:cNvPr>
          <p:cNvCxnSpPr>
            <a:cxnSpLocks/>
            <a:endCxn id="5" idx="1"/>
          </p:cNvCxnSpPr>
          <p:nvPr/>
        </p:nvCxnSpPr>
        <p:spPr>
          <a:xfrm flipV="1">
            <a:off x="5944227" y="1815815"/>
            <a:ext cx="1965119" cy="9978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57D65E51-47B0-F8BC-4792-1886C15D3C45}"/>
              </a:ext>
            </a:extLst>
          </p:cNvPr>
          <p:cNvCxnSpPr>
            <a:cxnSpLocks/>
            <a:stCxn id="2" idx="3"/>
            <a:endCxn id="87" idx="0"/>
          </p:cNvCxnSpPr>
          <p:nvPr/>
        </p:nvCxnSpPr>
        <p:spPr>
          <a:xfrm flipH="1">
            <a:off x="2376338" y="3979856"/>
            <a:ext cx="2616736" cy="1494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15431FE-501D-648A-4C68-D6C0BFC6BA66}"/>
              </a:ext>
            </a:extLst>
          </p:cNvPr>
          <p:cNvCxnSpPr>
            <a:cxnSpLocks/>
            <a:endCxn id="86" idx="0"/>
          </p:cNvCxnSpPr>
          <p:nvPr/>
        </p:nvCxnSpPr>
        <p:spPr>
          <a:xfrm flipH="1">
            <a:off x="4594071" y="4156618"/>
            <a:ext cx="754779" cy="13232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30739AF-7EFA-452D-086C-69BC41C5820E}"/>
              </a:ext>
            </a:extLst>
          </p:cNvPr>
          <p:cNvCxnSpPr>
            <a:cxnSpLocks/>
            <a:endCxn id="8" idx="0"/>
          </p:cNvCxnSpPr>
          <p:nvPr/>
        </p:nvCxnSpPr>
        <p:spPr>
          <a:xfrm>
            <a:off x="5850825" y="4150080"/>
            <a:ext cx="903003" cy="1347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728F2618-0EC9-B63A-6B25-4EE077C4E9DE}"/>
              </a:ext>
            </a:extLst>
          </p:cNvPr>
          <p:cNvCxnSpPr>
            <a:cxnSpLocks/>
            <a:endCxn id="7" idx="1"/>
          </p:cNvCxnSpPr>
          <p:nvPr/>
        </p:nvCxnSpPr>
        <p:spPr>
          <a:xfrm>
            <a:off x="6341176" y="3733114"/>
            <a:ext cx="1617644" cy="10008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2951F652-DD44-CC4E-4E23-4CC0C9578EA7}"/>
              </a:ext>
            </a:extLst>
          </p:cNvPr>
          <p:cNvCxnSpPr>
            <a:cxnSpLocks/>
            <a:stCxn id="2" idx="5"/>
          </p:cNvCxnSpPr>
          <p:nvPr/>
        </p:nvCxnSpPr>
        <p:spPr>
          <a:xfrm>
            <a:off x="6178468" y="3979856"/>
            <a:ext cx="1768102" cy="14906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B8AAE239-828E-DF23-AA66-8B6CDA7D466C}"/>
              </a:ext>
            </a:extLst>
          </p:cNvPr>
          <p:cNvCxnSpPr>
            <a:cxnSpLocks/>
            <a:stCxn id="2" idx="6"/>
            <a:endCxn id="10" idx="1"/>
          </p:cNvCxnSpPr>
          <p:nvPr/>
        </p:nvCxnSpPr>
        <p:spPr>
          <a:xfrm>
            <a:off x="6423971" y="3477737"/>
            <a:ext cx="1498251" cy="4645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10273ABC-905B-20DA-F30C-966996F409F1}"/>
              </a:ext>
            </a:extLst>
          </p:cNvPr>
          <p:cNvCxnSpPr>
            <a:cxnSpLocks/>
          </p:cNvCxnSpPr>
          <p:nvPr/>
        </p:nvCxnSpPr>
        <p:spPr>
          <a:xfrm flipV="1">
            <a:off x="6377130" y="3191678"/>
            <a:ext cx="1532216" cy="103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C00E677-0FB3-19FF-C0C8-A9A6D7D14218}"/>
              </a:ext>
            </a:extLst>
          </p:cNvPr>
          <p:cNvCxnSpPr>
            <a:cxnSpLocks/>
            <a:stCxn id="2" idx="7"/>
            <a:endCxn id="4" idx="1"/>
          </p:cNvCxnSpPr>
          <p:nvPr/>
        </p:nvCxnSpPr>
        <p:spPr>
          <a:xfrm flipV="1">
            <a:off x="6178468" y="2508901"/>
            <a:ext cx="1730879" cy="4667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87490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Connector 1">
            <a:extLst>
              <a:ext uri="{FF2B5EF4-FFF2-40B4-BE49-F238E27FC236}">
                <a16:creationId xmlns:a16="http://schemas.microsoft.com/office/drawing/2014/main" id="{B4F275BC-F3F7-4002-9830-F3447D5001B7}"/>
              </a:ext>
            </a:extLst>
          </p:cNvPr>
          <p:cNvSpPr/>
          <p:nvPr/>
        </p:nvSpPr>
        <p:spPr>
          <a:xfrm>
            <a:off x="3764903" y="2379309"/>
            <a:ext cx="2044182" cy="1912776"/>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latin typeface="TimesNewRomanPSMT"/>
              </a:rPr>
              <a:t>FRANCHISE MANAGEMENT SYSTEM</a:t>
            </a:r>
          </a:p>
        </p:txBody>
      </p:sp>
      <p:sp>
        <p:nvSpPr>
          <p:cNvPr id="3" name="Rectangle 2">
            <a:extLst>
              <a:ext uri="{FF2B5EF4-FFF2-40B4-BE49-F238E27FC236}">
                <a16:creationId xmlns:a16="http://schemas.microsoft.com/office/drawing/2014/main" id="{1B4DC96C-C265-63DA-1C3B-5EAB267734F8}"/>
              </a:ext>
            </a:extLst>
          </p:cNvPr>
          <p:cNvSpPr/>
          <p:nvPr/>
        </p:nvSpPr>
        <p:spPr>
          <a:xfrm>
            <a:off x="3928189" y="104971"/>
            <a:ext cx="1707502" cy="57849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NewRomanPSMT"/>
              </a:rPr>
              <a:t>ADMIN</a:t>
            </a:r>
          </a:p>
        </p:txBody>
      </p:sp>
      <p:sp>
        <p:nvSpPr>
          <p:cNvPr id="4" name="Rectangle 3">
            <a:extLst>
              <a:ext uri="{FF2B5EF4-FFF2-40B4-BE49-F238E27FC236}">
                <a16:creationId xmlns:a16="http://schemas.microsoft.com/office/drawing/2014/main" id="{32770EC5-19C1-EAD6-CD9E-2CAE9B38D8E1}"/>
              </a:ext>
            </a:extLst>
          </p:cNvPr>
          <p:cNvSpPr/>
          <p:nvPr/>
        </p:nvSpPr>
        <p:spPr>
          <a:xfrm>
            <a:off x="6487887" y="5865848"/>
            <a:ext cx="1707502" cy="57849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NewRomanPSMT"/>
              </a:rPr>
              <a:t>STUDENT </a:t>
            </a:r>
          </a:p>
        </p:txBody>
      </p:sp>
      <p:sp>
        <p:nvSpPr>
          <p:cNvPr id="5" name="Rectangle 4">
            <a:extLst>
              <a:ext uri="{FF2B5EF4-FFF2-40B4-BE49-F238E27FC236}">
                <a16:creationId xmlns:a16="http://schemas.microsoft.com/office/drawing/2014/main" id="{C3F56C65-0BDD-4993-9E96-C318E56A07E2}"/>
              </a:ext>
            </a:extLst>
          </p:cNvPr>
          <p:cNvSpPr/>
          <p:nvPr/>
        </p:nvSpPr>
        <p:spPr>
          <a:xfrm>
            <a:off x="1648410" y="5865848"/>
            <a:ext cx="1707502" cy="57849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NewRomanPSMT"/>
              </a:rPr>
              <a:t>FRANCHISE </a:t>
            </a:r>
          </a:p>
        </p:txBody>
      </p:sp>
      <p:cxnSp>
        <p:nvCxnSpPr>
          <p:cNvPr id="6" name="Straight Arrow Connector 5">
            <a:extLst>
              <a:ext uri="{FF2B5EF4-FFF2-40B4-BE49-F238E27FC236}">
                <a16:creationId xmlns:a16="http://schemas.microsoft.com/office/drawing/2014/main" id="{FA99598A-1F28-A5DC-F3EE-9DDF239B52F6}"/>
              </a:ext>
            </a:extLst>
          </p:cNvPr>
          <p:cNvCxnSpPr>
            <a:cxnSpLocks/>
            <a:stCxn id="3" idx="2"/>
            <a:endCxn id="2" idx="0"/>
          </p:cNvCxnSpPr>
          <p:nvPr/>
        </p:nvCxnSpPr>
        <p:spPr>
          <a:xfrm>
            <a:off x="4781940" y="683469"/>
            <a:ext cx="5054" cy="1695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nector: Elbow 6">
            <a:extLst>
              <a:ext uri="{FF2B5EF4-FFF2-40B4-BE49-F238E27FC236}">
                <a16:creationId xmlns:a16="http://schemas.microsoft.com/office/drawing/2014/main" id="{CD8B40D1-E60A-8B61-573F-DE61FD6A304E}"/>
              </a:ext>
            </a:extLst>
          </p:cNvPr>
          <p:cNvCxnSpPr>
            <a:cxnSpLocks/>
            <a:stCxn id="2" idx="2"/>
            <a:endCxn id="5" idx="0"/>
          </p:cNvCxnSpPr>
          <p:nvPr/>
        </p:nvCxnSpPr>
        <p:spPr>
          <a:xfrm rot="10800000" flipV="1">
            <a:off x="2502161" y="3335696"/>
            <a:ext cx="1262742" cy="253015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8" name="Connector: Elbow 7">
            <a:extLst>
              <a:ext uri="{FF2B5EF4-FFF2-40B4-BE49-F238E27FC236}">
                <a16:creationId xmlns:a16="http://schemas.microsoft.com/office/drawing/2014/main" id="{8523E713-1E39-C6A3-7A1E-604A037935EC}"/>
              </a:ext>
            </a:extLst>
          </p:cNvPr>
          <p:cNvCxnSpPr>
            <a:cxnSpLocks/>
            <a:stCxn id="2" idx="6"/>
            <a:endCxn id="4" idx="0"/>
          </p:cNvCxnSpPr>
          <p:nvPr/>
        </p:nvCxnSpPr>
        <p:spPr>
          <a:xfrm>
            <a:off x="5809085" y="3335697"/>
            <a:ext cx="1532553" cy="25301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or: Elbow 8">
            <a:extLst>
              <a:ext uri="{FF2B5EF4-FFF2-40B4-BE49-F238E27FC236}">
                <a16:creationId xmlns:a16="http://schemas.microsoft.com/office/drawing/2014/main" id="{FA7BAA70-5510-87FC-1497-FB715FDBF9C7}"/>
              </a:ext>
            </a:extLst>
          </p:cNvPr>
          <p:cNvCxnSpPr>
            <a:cxnSpLocks/>
          </p:cNvCxnSpPr>
          <p:nvPr/>
        </p:nvCxnSpPr>
        <p:spPr>
          <a:xfrm rot="5400000" flipH="1" flipV="1">
            <a:off x="2871886" y="4413772"/>
            <a:ext cx="1713723" cy="1190433"/>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10" name="Connector: Elbow 9">
            <a:extLst>
              <a:ext uri="{FF2B5EF4-FFF2-40B4-BE49-F238E27FC236}">
                <a16:creationId xmlns:a16="http://schemas.microsoft.com/office/drawing/2014/main" id="{10D5B0D6-2406-40AD-C2B7-F02B31DC186A}"/>
              </a:ext>
            </a:extLst>
          </p:cNvPr>
          <p:cNvCxnSpPr>
            <a:cxnSpLocks/>
          </p:cNvCxnSpPr>
          <p:nvPr/>
        </p:nvCxnSpPr>
        <p:spPr>
          <a:xfrm rot="16200000" flipV="1">
            <a:off x="5109874" y="4288782"/>
            <a:ext cx="1681061" cy="147307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2C19826-01D0-8C8B-DB8B-B46B2F760941}"/>
              </a:ext>
            </a:extLst>
          </p:cNvPr>
          <p:cNvCxnSpPr/>
          <p:nvPr/>
        </p:nvCxnSpPr>
        <p:spPr>
          <a:xfrm>
            <a:off x="3374099" y="5962264"/>
            <a:ext cx="311378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466F2018-0272-A177-2DEF-A160C21F3A5A}"/>
              </a:ext>
            </a:extLst>
          </p:cNvPr>
          <p:cNvCxnSpPr/>
          <p:nvPr/>
        </p:nvCxnSpPr>
        <p:spPr>
          <a:xfrm flipH="1">
            <a:off x="3355912" y="6279505"/>
            <a:ext cx="313197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9890A01E-58AD-D377-D460-E71084F4B5B7}"/>
              </a:ext>
            </a:extLst>
          </p:cNvPr>
          <p:cNvSpPr txBox="1"/>
          <p:nvPr/>
        </p:nvSpPr>
        <p:spPr>
          <a:xfrm>
            <a:off x="4203396" y="6279503"/>
            <a:ext cx="2632876" cy="276999"/>
          </a:xfrm>
          <a:prstGeom prst="rect">
            <a:avLst/>
          </a:prstGeom>
          <a:noFill/>
        </p:spPr>
        <p:txBody>
          <a:bodyPr wrap="square" rtlCol="0">
            <a:spAutoFit/>
          </a:bodyPr>
          <a:lstStyle/>
          <a:p>
            <a:r>
              <a:rPr lang="en-IN" sz="1200" dirty="0">
                <a:latin typeface="TimesNewRomanPSMT"/>
              </a:rPr>
              <a:t>Attending Classes</a:t>
            </a:r>
          </a:p>
        </p:txBody>
      </p:sp>
      <p:sp>
        <p:nvSpPr>
          <p:cNvPr id="14" name="TextBox 13">
            <a:extLst>
              <a:ext uri="{FF2B5EF4-FFF2-40B4-BE49-F238E27FC236}">
                <a16:creationId xmlns:a16="http://schemas.microsoft.com/office/drawing/2014/main" id="{2B84CCD6-0E6B-20AF-52A3-0FC71323DAE9}"/>
              </a:ext>
            </a:extLst>
          </p:cNvPr>
          <p:cNvSpPr txBox="1"/>
          <p:nvPr/>
        </p:nvSpPr>
        <p:spPr>
          <a:xfrm>
            <a:off x="3873908" y="5685265"/>
            <a:ext cx="2632876" cy="276999"/>
          </a:xfrm>
          <a:prstGeom prst="rect">
            <a:avLst/>
          </a:prstGeom>
          <a:noFill/>
        </p:spPr>
        <p:txBody>
          <a:bodyPr wrap="square" rtlCol="0">
            <a:spAutoFit/>
          </a:bodyPr>
          <a:lstStyle/>
          <a:p>
            <a:r>
              <a:rPr lang="en-IN" sz="1200" dirty="0">
                <a:latin typeface="TimesNewRomanPSMT"/>
              </a:rPr>
              <a:t>Add and modify details </a:t>
            </a:r>
          </a:p>
        </p:txBody>
      </p:sp>
      <p:sp>
        <p:nvSpPr>
          <p:cNvPr id="15" name="TextBox 14">
            <a:extLst>
              <a:ext uri="{FF2B5EF4-FFF2-40B4-BE49-F238E27FC236}">
                <a16:creationId xmlns:a16="http://schemas.microsoft.com/office/drawing/2014/main" id="{C7B59EC1-B660-ECAE-FD5E-ABEEFF9715B0}"/>
              </a:ext>
            </a:extLst>
          </p:cNvPr>
          <p:cNvSpPr txBox="1"/>
          <p:nvPr/>
        </p:nvSpPr>
        <p:spPr>
          <a:xfrm>
            <a:off x="5810596" y="3019048"/>
            <a:ext cx="1531042" cy="276999"/>
          </a:xfrm>
          <a:prstGeom prst="rect">
            <a:avLst/>
          </a:prstGeom>
          <a:noFill/>
        </p:spPr>
        <p:txBody>
          <a:bodyPr wrap="square" rtlCol="0">
            <a:spAutoFit/>
          </a:bodyPr>
          <a:lstStyle/>
          <a:p>
            <a:r>
              <a:rPr lang="en-IN" sz="1200" dirty="0">
                <a:latin typeface="TimesNewRomanPSMT"/>
              </a:rPr>
              <a:t>Issues Certificate </a:t>
            </a:r>
          </a:p>
        </p:txBody>
      </p:sp>
      <p:sp>
        <p:nvSpPr>
          <p:cNvPr id="16" name="TextBox 15">
            <a:extLst>
              <a:ext uri="{FF2B5EF4-FFF2-40B4-BE49-F238E27FC236}">
                <a16:creationId xmlns:a16="http://schemas.microsoft.com/office/drawing/2014/main" id="{0E366CAC-376B-E9B6-C1AD-3DEA96E4FDED}"/>
              </a:ext>
            </a:extLst>
          </p:cNvPr>
          <p:cNvSpPr txBox="1"/>
          <p:nvPr/>
        </p:nvSpPr>
        <p:spPr>
          <a:xfrm>
            <a:off x="2412310" y="3069776"/>
            <a:ext cx="1352593" cy="276999"/>
          </a:xfrm>
          <a:prstGeom prst="rect">
            <a:avLst/>
          </a:prstGeom>
          <a:noFill/>
        </p:spPr>
        <p:txBody>
          <a:bodyPr wrap="square" rtlCol="0">
            <a:spAutoFit/>
          </a:bodyPr>
          <a:lstStyle/>
          <a:p>
            <a:r>
              <a:rPr lang="en-IN" sz="1200" dirty="0">
                <a:latin typeface="TimesNewRomanPSMT"/>
              </a:rPr>
              <a:t>Provides Courses</a:t>
            </a:r>
          </a:p>
        </p:txBody>
      </p:sp>
      <p:sp>
        <p:nvSpPr>
          <p:cNvPr id="17" name="TextBox 16">
            <a:extLst>
              <a:ext uri="{FF2B5EF4-FFF2-40B4-BE49-F238E27FC236}">
                <a16:creationId xmlns:a16="http://schemas.microsoft.com/office/drawing/2014/main" id="{1A9E0EA5-244F-FAD9-072A-EBF8B0CF1E41}"/>
              </a:ext>
            </a:extLst>
          </p:cNvPr>
          <p:cNvSpPr txBox="1"/>
          <p:nvPr/>
        </p:nvSpPr>
        <p:spPr>
          <a:xfrm rot="16200000">
            <a:off x="3665601" y="1331851"/>
            <a:ext cx="1846823" cy="276999"/>
          </a:xfrm>
          <a:prstGeom prst="rect">
            <a:avLst/>
          </a:prstGeom>
          <a:noFill/>
        </p:spPr>
        <p:txBody>
          <a:bodyPr wrap="square" rtlCol="0">
            <a:spAutoFit/>
          </a:bodyPr>
          <a:lstStyle/>
          <a:p>
            <a:r>
              <a:rPr lang="en-IN" sz="1200" dirty="0">
                <a:latin typeface="TimesNewRomanPSMT"/>
              </a:rPr>
              <a:t>Add and modify details </a:t>
            </a:r>
          </a:p>
        </p:txBody>
      </p:sp>
      <p:sp>
        <p:nvSpPr>
          <p:cNvPr id="18" name="TextBox 17">
            <a:extLst>
              <a:ext uri="{FF2B5EF4-FFF2-40B4-BE49-F238E27FC236}">
                <a16:creationId xmlns:a16="http://schemas.microsoft.com/office/drawing/2014/main" id="{391378C7-EEF7-E338-0AAF-A7AE58CFEE14}"/>
              </a:ext>
            </a:extLst>
          </p:cNvPr>
          <p:cNvSpPr txBox="1"/>
          <p:nvPr/>
        </p:nvSpPr>
        <p:spPr>
          <a:xfrm>
            <a:off x="5405783" y="4686110"/>
            <a:ext cx="1575154" cy="276999"/>
          </a:xfrm>
          <a:prstGeom prst="rect">
            <a:avLst/>
          </a:prstGeom>
          <a:noFill/>
        </p:spPr>
        <p:txBody>
          <a:bodyPr wrap="square" rtlCol="0">
            <a:spAutoFit/>
          </a:bodyPr>
          <a:lstStyle/>
          <a:p>
            <a:r>
              <a:rPr lang="en-IN" sz="1200" dirty="0">
                <a:latin typeface="TimesNewRomanPSMT"/>
              </a:rPr>
              <a:t>Registering Courses </a:t>
            </a:r>
          </a:p>
        </p:txBody>
      </p:sp>
      <p:sp>
        <p:nvSpPr>
          <p:cNvPr id="19" name="TextBox 18">
            <a:extLst>
              <a:ext uri="{FF2B5EF4-FFF2-40B4-BE49-F238E27FC236}">
                <a16:creationId xmlns:a16="http://schemas.microsoft.com/office/drawing/2014/main" id="{F07008EB-5D8C-9D1F-3E07-30160D23E1A8}"/>
              </a:ext>
            </a:extLst>
          </p:cNvPr>
          <p:cNvSpPr txBox="1"/>
          <p:nvPr/>
        </p:nvSpPr>
        <p:spPr>
          <a:xfrm>
            <a:off x="2536721" y="4658026"/>
            <a:ext cx="1823397" cy="276999"/>
          </a:xfrm>
          <a:prstGeom prst="rect">
            <a:avLst/>
          </a:prstGeom>
          <a:noFill/>
        </p:spPr>
        <p:txBody>
          <a:bodyPr wrap="square" rtlCol="0">
            <a:spAutoFit/>
          </a:bodyPr>
          <a:lstStyle/>
          <a:p>
            <a:r>
              <a:rPr lang="en-IN" sz="1200" dirty="0">
                <a:latin typeface="TimesNewRomanPSMT"/>
              </a:rPr>
              <a:t>Provide Student Reports </a:t>
            </a:r>
          </a:p>
        </p:txBody>
      </p:sp>
      <p:sp>
        <p:nvSpPr>
          <p:cNvPr id="23" name="TextBox 22">
            <a:extLst>
              <a:ext uri="{FF2B5EF4-FFF2-40B4-BE49-F238E27FC236}">
                <a16:creationId xmlns:a16="http://schemas.microsoft.com/office/drawing/2014/main" id="{081ABE0D-6CB9-F644-954D-2DD176563549}"/>
              </a:ext>
            </a:extLst>
          </p:cNvPr>
          <p:cNvSpPr txBox="1"/>
          <p:nvPr/>
        </p:nvSpPr>
        <p:spPr>
          <a:xfrm>
            <a:off x="317241" y="228988"/>
            <a:ext cx="1707502" cy="369332"/>
          </a:xfrm>
          <a:prstGeom prst="rect">
            <a:avLst/>
          </a:prstGeom>
          <a:noFill/>
        </p:spPr>
        <p:txBody>
          <a:bodyPr wrap="square" rtlCol="0">
            <a:spAutoFit/>
          </a:bodyPr>
          <a:lstStyle/>
          <a:p>
            <a:r>
              <a:rPr lang="en-IN" b="1" dirty="0">
                <a:latin typeface="TimesNewRomanPSMT"/>
              </a:rPr>
              <a:t>DFD LEVEL 2</a:t>
            </a:r>
          </a:p>
        </p:txBody>
      </p:sp>
    </p:spTree>
    <p:extLst>
      <p:ext uri="{BB962C8B-B14F-4D97-AF65-F5344CB8AC3E}">
        <p14:creationId xmlns:p14="http://schemas.microsoft.com/office/powerpoint/2010/main" val="1264173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ECA3B-6DF3-EC19-60E8-A34122CA66D0}"/>
              </a:ext>
            </a:extLst>
          </p:cNvPr>
          <p:cNvSpPr txBox="1"/>
          <p:nvPr/>
        </p:nvSpPr>
        <p:spPr>
          <a:xfrm>
            <a:off x="746448" y="583364"/>
            <a:ext cx="8089642" cy="2951064"/>
          </a:xfrm>
          <a:prstGeom prst="rect">
            <a:avLst/>
          </a:prstGeom>
          <a:noFill/>
        </p:spPr>
        <p:txBody>
          <a:bodyPr wrap="square">
            <a:spAutoFit/>
          </a:bodyPr>
          <a:lstStyle/>
          <a:p>
            <a:pPr>
              <a:lnSpc>
                <a:spcPct val="150000"/>
              </a:lnSpc>
            </a:pPr>
            <a:r>
              <a:rPr lang="en-US" b="1" dirty="0">
                <a:latin typeface="TimesNewRomanPS-BoldMT"/>
              </a:rPr>
              <a:t>E-R diagram</a:t>
            </a:r>
          </a:p>
          <a:p>
            <a:pPr>
              <a:lnSpc>
                <a:spcPct val="150000"/>
              </a:lnSpc>
            </a:pPr>
            <a:endParaRPr lang="en-US" b="1" dirty="0">
              <a:latin typeface="TimesNewRomanPS-BoldMT"/>
            </a:endParaRPr>
          </a:p>
          <a:p>
            <a:pPr>
              <a:lnSpc>
                <a:spcPct val="150000"/>
              </a:lnSpc>
            </a:pPr>
            <a:r>
              <a:rPr lang="en-US" dirty="0">
                <a:latin typeface="TimesNewRomanPS-BoldMT"/>
              </a:rPr>
              <a:t>E-R diagram is entity relationship diagram which can describes interrelated things of interest in a specific domain of knowledge.</a:t>
            </a:r>
          </a:p>
          <a:p>
            <a:pPr>
              <a:lnSpc>
                <a:spcPct val="150000"/>
              </a:lnSpc>
            </a:pPr>
            <a:endParaRPr lang="en-US" dirty="0">
              <a:latin typeface="TimesNewRomanPS-BoldMT"/>
            </a:endParaRPr>
          </a:p>
          <a:p>
            <a:pPr>
              <a:lnSpc>
                <a:spcPct val="150000"/>
              </a:lnSpc>
            </a:pPr>
            <a:r>
              <a:rPr lang="en-US" b="0" i="0" dirty="0">
                <a:effectLst/>
                <a:latin typeface="TimesNewRomanPS-BoldMT"/>
              </a:rPr>
              <a:t>An Entity Relationship (ER) Diagram is a type of flowchart that illustrates how “entities” such as people, objects or concepts relate to each other within a system.</a:t>
            </a:r>
            <a:endParaRPr lang="en-IN" b="1" dirty="0">
              <a:latin typeface="TimesNewRomanPS-BoldMT"/>
            </a:endParaRPr>
          </a:p>
        </p:txBody>
      </p:sp>
    </p:spTree>
    <p:extLst>
      <p:ext uri="{BB962C8B-B14F-4D97-AF65-F5344CB8AC3E}">
        <p14:creationId xmlns:p14="http://schemas.microsoft.com/office/powerpoint/2010/main" val="414665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078C13-441F-94B3-B61A-876B0C6677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4226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957EC1-4E5D-C914-7B01-2C0B591FF0A6}"/>
              </a:ext>
            </a:extLst>
          </p:cNvPr>
          <p:cNvSpPr txBox="1"/>
          <p:nvPr/>
        </p:nvSpPr>
        <p:spPr>
          <a:xfrm>
            <a:off x="483235" y="568058"/>
            <a:ext cx="2518611" cy="369332"/>
          </a:xfrm>
          <a:prstGeom prst="rect">
            <a:avLst/>
          </a:prstGeom>
          <a:noFill/>
        </p:spPr>
        <p:txBody>
          <a:bodyPr wrap="square" rtlCol="0">
            <a:spAutoFit/>
          </a:bodyPr>
          <a:lstStyle/>
          <a:p>
            <a:r>
              <a:rPr lang="en-US" b="1" dirty="0"/>
              <a:t>LOG IN TABLE</a:t>
            </a:r>
            <a:endParaRPr lang="en-IN" b="1" dirty="0"/>
          </a:p>
        </p:txBody>
      </p:sp>
      <p:sp>
        <p:nvSpPr>
          <p:cNvPr id="5" name="TextBox 4">
            <a:extLst>
              <a:ext uri="{FF2B5EF4-FFF2-40B4-BE49-F238E27FC236}">
                <a16:creationId xmlns:a16="http://schemas.microsoft.com/office/drawing/2014/main" id="{79E0D16A-2DDF-FA3F-200C-146DB56F2A43}"/>
              </a:ext>
            </a:extLst>
          </p:cNvPr>
          <p:cNvSpPr txBox="1"/>
          <p:nvPr/>
        </p:nvSpPr>
        <p:spPr>
          <a:xfrm>
            <a:off x="483235" y="2707243"/>
            <a:ext cx="2759242" cy="369332"/>
          </a:xfrm>
          <a:prstGeom prst="rect">
            <a:avLst/>
          </a:prstGeom>
          <a:noFill/>
        </p:spPr>
        <p:txBody>
          <a:bodyPr wrap="square" rtlCol="0">
            <a:spAutoFit/>
          </a:bodyPr>
          <a:lstStyle/>
          <a:p>
            <a:r>
              <a:rPr lang="en-US" b="1" dirty="0"/>
              <a:t>REGISTRATION TABLE</a:t>
            </a:r>
            <a:endParaRPr lang="en-IN" b="1" dirty="0"/>
          </a:p>
        </p:txBody>
      </p:sp>
      <p:graphicFrame>
        <p:nvGraphicFramePr>
          <p:cNvPr id="7" name="Table 6">
            <a:extLst>
              <a:ext uri="{FF2B5EF4-FFF2-40B4-BE49-F238E27FC236}">
                <a16:creationId xmlns:a16="http://schemas.microsoft.com/office/drawing/2014/main" id="{51F8E5C0-5DC0-DBB4-9D32-87465CE74E9E}"/>
              </a:ext>
            </a:extLst>
          </p:cNvPr>
          <p:cNvGraphicFramePr>
            <a:graphicFrameLocks noGrp="1"/>
          </p:cNvGraphicFramePr>
          <p:nvPr>
            <p:extLst>
              <p:ext uri="{D42A27DB-BD31-4B8C-83A1-F6EECF244321}">
                <p14:modId xmlns:p14="http://schemas.microsoft.com/office/powerpoint/2010/main" val="2294766672"/>
              </p:ext>
            </p:extLst>
          </p:nvPr>
        </p:nvGraphicFramePr>
        <p:xfrm>
          <a:off x="483235" y="1084455"/>
          <a:ext cx="7684670" cy="1107440"/>
        </p:xfrm>
        <a:graphic>
          <a:graphicData uri="http://schemas.openxmlformats.org/drawingml/2006/table">
            <a:tbl>
              <a:tblPr firstRow="1" bandRow="1">
                <a:tableStyleId>{5C22544A-7EE6-4342-B048-85BDC9FD1C3A}</a:tableStyleId>
              </a:tblPr>
              <a:tblGrid>
                <a:gridCol w="1017170">
                  <a:extLst>
                    <a:ext uri="{9D8B030D-6E8A-4147-A177-3AD203B41FA5}">
                      <a16:colId xmlns:a16="http://schemas.microsoft.com/office/drawing/2014/main" val="1675405108"/>
                    </a:ext>
                  </a:extLst>
                </a:gridCol>
                <a:gridCol w="1962150">
                  <a:extLst>
                    <a:ext uri="{9D8B030D-6E8A-4147-A177-3AD203B41FA5}">
                      <a16:colId xmlns:a16="http://schemas.microsoft.com/office/drawing/2014/main" val="3096564837"/>
                    </a:ext>
                  </a:extLst>
                </a:gridCol>
                <a:gridCol w="2124075">
                  <a:extLst>
                    <a:ext uri="{9D8B030D-6E8A-4147-A177-3AD203B41FA5}">
                      <a16:colId xmlns:a16="http://schemas.microsoft.com/office/drawing/2014/main" val="1411342096"/>
                    </a:ext>
                  </a:extLst>
                </a:gridCol>
                <a:gridCol w="2581275">
                  <a:extLst>
                    <a:ext uri="{9D8B030D-6E8A-4147-A177-3AD203B41FA5}">
                      <a16:colId xmlns:a16="http://schemas.microsoft.com/office/drawing/2014/main" val="3105309681"/>
                    </a:ext>
                  </a:extLst>
                </a:gridCol>
              </a:tblGrid>
              <a:tr h="168490">
                <a:tc>
                  <a:txBody>
                    <a:bodyPr/>
                    <a:lstStyle/>
                    <a:p>
                      <a:r>
                        <a:rPr lang="en-US" dirty="0"/>
                        <a:t>ID</a:t>
                      </a:r>
                      <a:endParaRPr lang="en-IN" dirty="0"/>
                    </a:p>
                  </a:txBody>
                  <a:tcPr/>
                </a:tc>
                <a:tc>
                  <a:txBody>
                    <a:bodyPr/>
                    <a:lstStyle/>
                    <a:p>
                      <a:r>
                        <a:rPr lang="en-US" dirty="0"/>
                        <a:t>USERNAME</a:t>
                      </a:r>
                      <a:endParaRPr lang="en-IN" dirty="0"/>
                    </a:p>
                  </a:txBody>
                  <a:tcPr/>
                </a:tc>
                <a:tc>
                  <a:txBody>
                    <a:bodyPr/>
                    <a:lstStyle/>
                    <a:p>
                      <a:r>
                        <a:rPr lang="en-US" dirty="0"/>
                        <a:t>PASSWORD</a:t>
                      </a:r>
                      <a:endParaRPr lang="en-IN" dirty="0"/>
                    </a:p>
                  </a:txBody>
                  <a:tcPr/>
                </a:tc>
                <a:tc>
                  <a:txBody>
                    <a:bodyPr/>
                    <a:lstStyle/>
                    <a:p>
                      <a:r>
                        <a:rPr lang="en-US" dirty="0"/>
                        <a:t>EMAIL ID</a:t>
                      </a:r>
                      <a:endParaRPr lang="en-IN" dirty="0"/>
                    </a:p>
                  </a:txBody>
                  <a:tcPr/>
                </a:tc>
                <a:extLst>
                  <a:ext uri="{0D108BD9-81ED-4DB2-BD59-A6C34878D82A}">
                    <a16:rowId xmlns:a16="http://schemas.microsoft.com/office/drawing/2014/main" val="231385314"/>
                  </a:ext>
                </a:extLst>
              </a:tr>
              <a:tr h="370840">
                <a:tc>
                  <a:txBody>
                    <a:bodyPr/>
                    <a:lstStyle/>
                    <a:p>
                      <a:r>
                        <a:rPr lang="en-US" dirty="0"/>
                        <a:t>101</a:t>
                      </a:r>
                      <a:endParaRPr lang="en-IN" dirty="0"/>
                    </a:p>
                  </a:txBody>
                  <a:tcPr/>
                </a:tc>
                <a:tc>
                  <a:txBody>
                    <a:bodyPr/>
                    <a:lstStyle/>
                    <a:p>
                      <a:r>
                        <a:rPr lang="en-US" dirty="0"/>
                        <a:t>Sachin</a:t>
                      </a:r>
                      <a:endParaRPr lang="en-IN" dirty="0"/>
                    </a:p>
                  </a:txBody>
                  <a:tcPr/>
                </a:tc>
                <a:tc>
                  <a:txBody>
                    <a:bodyPr/>
                    <a:lstStyle/>
                    <a:p>
                      <a:r>
                        <a:rPr lang="en-US" dirty="0"/>
                        <a:t>Admin@123</a:t>
                      </a:r>
                      <a:endParaRPr lang="en-IN" dirty="0"/>
                    </a:p>
                  </a:txBody>
                  <a:tcPr/>
                </a:tc>
                <a:tc>
                  <a:txBody>
                    <a:bodyPr/>
                    <a:lstStyle/>
                    <a:p>
                      <a:r>
                        <a:rPr lang="en-US" dirty="0">
                          <a:hlinkClick r:id="rId2"/>
                        </a:rPr>
                        <a:t>sachin@gmail.com</a:t>
                      </a:r>
                      <a:endParaRPr lang="en-IN" dirty="0"/>
                    </a:p>
                  </a:txBody>
                  <a:tcPr/>
                </a:tc>
                <a:extLst>
                  <a:ext uri="{0D108BD9-81ED-4DB2-BD59-A6C34878D82A}">
                    <a16:rowId xmlns:a16="http://schemas.microsoft.com/office/drawing/2014/main" val="774363263"/>
                  </a:ext>
                </a:extLst>
              </a:tr>
              <a:tr h="370840">
                <a:tc>
                  <a:txBody>
                    <a:bodyPr/>
                    <a:lstStyle/>
                    <a:p>
                      <a:r>
                        <a:rPr lang="en-US" dirty="0"/>
                        <a:t>102</a:t>
                      </a:r>
                      <a:endParaRPr lang="en-IN" dirty="0"/>
                    </a:p>
                  </a:txBody>
                  <a:tcPr/>
                </a:tc>
                <a:tc>
                  <a:txBody>
                    <a:bodyPr/>
                    <a:lstStyle/>
                    <a:p>
                      <a:r>
                        <a:rPr lang="en-US" dirty="0"/>
                        <a:t>Manish</a:t>
                      </a:r>
                      <a:endParaRPr lang="en-IN" dirty="0"/>
                    </a:p>
                  </a:txBody>
                  <a:tcPr/>
                </a:tc>
                <a:tc>
                  <a:txBody>
                    <a:bodyPr/>
                    <a:lstStyle/>
                    <a:p>
                      <a:r>
                        <a:rPr lang="en-US" dirty="0"/>
                        <a:t>Manish@123</a:t>
                      </a:r>
                      <a:endParaRPr lang="en-IN" dirty="0"/>
                    </a:p>
                  </a:txBody>
                  <a:tcPr/>
                </a:tc>
                <a:tc>
                  <a:txBody>
                    <a:bodyPr/>
                    <a:lstStyle/>
                    <a:p>
                      <a:r>
                        <a:rPr lang="en-US" dirty="0"/>
                        <a:t>manish@gmail.com</a:t>
                      </a:r>
                      <a:endParaRPr lang="en-IN" dirty="0"/>
                    </a:p>
                  </a:txBody>
                  <a:tcPr/>
                </a:tc>
                <a:extLst>
                  <a:ext uri="{0D108BD9-81ED-4DB2-BD59-A6C34878D82A}">
                    <a16:rowId xmlns:a16="http://schemas.microsoft.com/office/drawing/2014/main" val="2396513936"/>
                  </a:ext>
                </a:extLst>
              </a:tr>
            </a:tbl>
          </a:graphicData>
        </a:graphic>
      </p:graphicFrame>
      <p:graphicFrame>
        <p:nvGraphicFramePr>
          <p:cNvPr id="11" name="Table 10">
            <a:extLst>
              <a:ext uri="{FF2B5EF4-FFF2-40B4-BE49-F238E27FC236}">
                <a16:creationId xmlns:a16="http://schemas.microsoft.com/office/drawing/2014/main" id="{BFAAA378-3E58-4820-C30E-AA178932051F}"/>
              </a:ext>
            </a:extLst>
          </p:cNvPr>
          <p:cNvGraphicFramePr>
            <a:graphicFrameLocks noGrp="1"/>
          </p:cNvGraphicFramePr>
          <p:nvPr>
            <p:extLst>
              <p:ext uri="{D42A27DB-BD31-4B8C-83A1-F6EECF244321}">
                <p14:modId xmlns:p14="http://schemas.microsoft.com/office/powerpoint/2010/main" val="276571971"/>
              </p:ext>
            </p:extLst>
          </p:nvPr>
        </p:nvGraphicFramePr>
        <p:xfrm>
          <a:off x="483235" y="3251824"/>
          <a:ext cx="10165716" cy="1925320"/>
        </p:xfrm>
        <a:graphic>
          <a:graphicData uri="http://schemas.openxmlformats.org/drawingml/2006/table">
            <a:tbl>
              <a:tblPr firstRow="1" bandRow="1">
                <a:tableStyleId>{5C22544A-7EE6-4342-B048-85BDC9FD1C3A}</a:tableStyleId>
              </a:tblPr>
              <a:tblGrid>
                <a:gridCol w="449942">
                  <a:extLst>
                    <a:ext uri="{9D8B030D-6E8A-4147-A177-3AD203B41FA5}">
                      <a16:colId xmlns:a16="http://schemas.microsoft.com/office/drawing/2014/main" val="1325902871"/>
                    </a:ext>
                  </a:extLst>
                </a:gridCol>
                <a:gridCol w="771329">
                  <a:extLst>
                    <a:ext uri="{9D8B030D-6E8A-4147-A177-3AD203B41FA5}">
                      <a16:colId xmlns:a16="http://schemas.microsoft.com/office/drawing/2014/main" val="2408702887"/>
                    </a:ext>
                  </a:extLst>
                </a:gridCol>
                <a:gridCol w="1216326">
                  <a:extLst>
                    <a:ext uri="{9D8B030D-6E8A-4147-A177-3AD203B41FA5}">
                      <a16:colId xmlns:a16="http://schemas.microsoft.com/office/drawing/2014/main" val="477818705"/>
                    </a:ext>
                  </a:extLst>
                </a:gridCol>
                <a:gridCol w="978994">
                  <a:extLst>
                    <a:ext uri="{9D8B030D-6E8A-4147-A177-3AD203B41FA5}">
                      <a16:colId xmlns:a16="http://schemas.microsoft.com/office/drawing/2014/main" val="2618472755"/>
                    </a:ext>
                  </a:extLst>
                </a:gridCol>
                <a:gridCol w="1112493">
                  <a:extLst>
                    <a:ext uri="{9D8B030D-6E8A-4147-A177-3AD203B41FA5}">
                      <a16:colId xmlns:a16="http://schemas.microsoft.com/office/drawing/2014/main" val="88078772"/>
                    </a:ext>
                  </a:extLst>
                </a:gridCol>
                <a:gridCol w="830662">
                  <a:extLst>
                    <a:ext uri="{9D8B030D-6E8A-4147-A177-3AD203B41FA5}">
                      <a16:colId xmlns:a16="http://schemas.microsoft.com/office/drawing/2014/main" val="2367617729"/>
                    </a:ext>
                  </a:extLst>
                </a:gridCol>
                <a:gridCol w="875161">
                  <a:extLst>
                    <a:ext uri="{9D8B030D-6E8A-4147-A177-3AD203B41FA5}">
                      <a16:colId xmlns:a16="http://schemas.microsoft.com/office/drawing/2014/main" val="3295885115"/>
                    </a:ext>
                  </a:extLst>
                </a:gridCol>
                <a:gridCol w="1290492">
                  <a:extLst>
                    <a:ext uri="{9D8B030D-6E8A-4147-A177-3AD203B41FA5}">
                      <a16:colId xmlns:a16="http://schemas.microsoft.com/office/drawing/2014/main" val="795623176"/>
                    </a:ext>
                  </a:extLst>
                </a:gridCol>
                <a:gridCol w="1127326">
                  <a:extLst>
                    <a:ext uri="{9D8B030D-6E8A-4147-A177-3AD203B41FA5}">
                      <a16:colId xmlns:a16="http://schemas.microsoft.com/office/drawing/2014/main" val="2726943538"/>
                    </a:ext>
                  </a:extLst>
                </a:gridCol>
                <a:gridCol w="1512991">
                  <a:extLst>
                    <a:ext uri="{9D8B030D-6E8A-4147-A177-3AD203B41FA5}">
                      <a16:colId xmlns:a16="http://schemas.microsoft.com/office/drawing/2014/main" val="3624746700"/>
                    </a:ext>
                  </a:extLst>
                </a:gridCol>
              </a:tblGrid>
              <a:tr h="370840">
                <a:tc>
                  <a:txBody>
                    <a:bodyPr/>
                    <a:lstStyle/>
                    <a:p>
                      <a:r>
                        <a:rPr lang="en-US" dirty="0"/>
                        <a:t>ID</a:t>
                      </a:r>
                      <a:endParaRPr lang="en-IN" dirty="0"/>
                    </a:p>
                  </a:txBody>
                  <a:tcPr/>
                </a:tc>
                <a:tc>
                  <a:txBody>
                    <a:bodyPr/>
                    <a:lstStyle/>
                    <a:p>
                      <a:r>
                        <a:rPr lang="en-US" dirty="0"/>
                        <a:t>NAME</a:t>
                      </a:r>
                    </a:p>
                  </a:txBody>
                  <a:tcPr/>
                </a:tc>
                <a:tc>
                  <a:txBody>
                    <a:bodyPr/>
                    <a:lstStyle/>
                    <a:p>
                      <a:r>
                        <a:rPr lang="en-US" dirty="0"/>
                        <a:t>CONTACT</a:t>
                      </a:r>
                      <a:endParaRPr lang="en-IN" dirty="0"/>
                    </a:p>
                  </a:txBody>
                  <a:tcPr/>
                </a:tc>
                <a:tc>
                  <a:txBody>
                    <a:bodyPr/>
                    <a:lstStyle/>
                    <a:p>
                      <a:r>
                        <a:rPr lang="en-US" dirty="0"/>
                        <a:t>EMAIL</a:t>
                      </a:r>
                      <a:endParaRPr lang="en-IN" dirty="0"/>
                    </a:p>
                  </a:txBody>
                  <a:tcPr/>
                </a:tc>
                <a:tc>
                  <a:txBody>
                    <a:bodyPr/>
                    <a:lstStyle/>
                    <a:p>
                      <a:r>
                        <a:rPr lang="en-US" dirty="0"/>
                        <a:t>GENDER</a:t>
                      </a:r>
                      <a:endParaRPr lang="en-IN" dirty="0"/>
                    </a:p>
                  </a:txBody>
                  <a:tcPr/>
                </a:tc>
                <a:tc>
                  <a:txBody>
                    <a:bodyPr/>
                    <a:lstStyle/>
                    <a:p>
                      <a:r>
                        <a:rPr lang="en-US" dirty="0"/>
                        <a:t>STATE</a:t>
                      </a:r>
                      <a:endParaRPr lang="en-IN" dirty="0"/>
                    </a:p>
                  </a:txBody>
                  <a:tcPr/>
                </a:tc>
                <a:tc>
                  <a:txBody>
                    <a:bodyPr/>
                    <a:lstStyle/>
                    <a:p>
                      <a:r>
                        <a:rPr lang="en-US" dirty="0"/>
                        <a:t>CITY</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DISTRICT</a:t>
                      </a:r>
                      <a:endParaRPr lang="en-IN" dirty="0"/>
                    </a:p>
                    <a:p>
                      <a:endParaRPr lang="en-IN" dirty="0"/>
                    </a:p>
                  </a:txBody>
                  <a:tcPr/>
                </a:tc>
                <a:tc>
                  <a:txBody>
                    <a:bodyPr/>
                    <a:lstStyle/>
                    <a:p>
                      <a:r>
                        <a:rPr lang="en-US" dirty="0"/>
                        <a:t>TALUKA</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PIN CODE</a:t>
                      </a:r>
                      <a:endParaRPr lang="en-IN" dirty="0"/>
                    </a:p>
                    <a:p>
                      <a:endParaRPr lang="en-IN" dirty="0"/>
                    </a:p>
                  </a:txBody>
                  <a:tcPr/>
                </a:tc>
                <a:extLst>
                  <a:ext uri="{0D108BD9-81ED-4DB2-BD59-A6C34878D82A}">
                    <a16:rowId xmlns:a16="http://schemas.microsoft.com/office/drawing/2014/main" val="2282069205"/>
                  </a:ext>
                </a:extLst>
              </a:tr>
              <a:tr h="509064">
                <a:tc>
                  <a:txBody>
                    <a:bodyPr/>
                    <a:lstStyle/>
                    <a:p>
                      <a:r>
                        <a:rPr lang="en-US" dirty="0"/>
                        <a:t>1</a:t>
                      </a:r>
                      <a:endParaRPr lang="en-IN" dirty="0"/>
                    </a:p>
                  </a:txBody>
                  <a:tcPr/>
                </a:tc>
                <a:tc>
                  <a:txBody>
                    <a:bodyPr/>
                    <a:lstStyle/>
                    <a:p>
                      <a:r>
                        <a:rPr lang="en-US" dirty="0"/>
                        <a:t>Jay</a:t>
                      </a:r>
                      <a:endParaRPr lang="en-IN" dirty="0"/>
                    </a:p>
                  </a:txBody>
                  <a:tcPr/>
                </a:tc>
                <a:tc>
                  <a:txBody>
                    <a:bodyPr/>
                    <a:lstStyle/>
                    <a:p>
                      <a:r>
                        <a:rPr lang="en-US" dirty="0"/>
                        <a:t>932280***</a:t>
                      </a:r>
                      <a:endParaRPr lang="en-IN" dirty="0"/>
                    </a:p>
                  </a:txBody>
                  <a:tcPr/>
                </a:tc>
                <a:tc>
                  <a:txBody>
                    <a:bodyPr/>
                    <a:lstStyle/>
                    <a:p>
                      <a:r>
                        <a:rPr lang="en-US" dirty="0"/>
                        <a:t>jay@gmail.com</a:t>
                      </a:r>
                      <a:endParaRPr lang="en-IN" dirty="0"/>
                    </a:p>
                  </a:txBody>
                  <a:tcPr/>
                </a:tc>
                <a:tc>
                  <a:txBody>
                    <a:bodyPr/>
                    <a:lstStyle/>
                    <a:p>
                      <a:r>
                        <a:rPr lang="en-US" dirty="0"/>
                        <a:t>MALE</a:t>
                      </a:r>
                      <a:endParaRPr lang="en-IN" dirty="0"/>
                    </a:p>
                  </a:txBody>
                  <a:tcPr/>
                </a:tc>
                <a:tc>
                  <a:txBody>
                    <a:bodyPr/>
                    <a:lstStyle/>
                    <a:p>
                      <a:r>
                        <a:rPr lang="en-US" dirty="0"/>
                        <a:t>MH</a:t>
                      </a:r>
                      <a:endParaRPr lang="en-IN" dirty="0"/>
                    </a:p>
                  </a:txBody>
                  <a:tcPr/>
                </a:tc>
                <a:tc>
                  <a:txBody>
                    <a:bodyPr/>
                    <a:lstStyle/>
                    <a:p>
                      <a:r>
                        <a:rPr lang="en-US" dirty="0"/>
                        <a:t>PUNE</a:t>
                      </a:r>
                      <a:endParaRPr lang="en-IN" dirty="0"/>
                    </a:p>
                  </a:txBody>
                  <a:tcPr/>
                </a:tc>
                <a:tc>
                  <a:txBody>
                    <a:bodyPr/>
                    <a:lstStyle/>
                    <a:p>
                      <a:r>
                        <a:rPr lang="en-US" dirty="0"/>
                        <a:t>PUNE</a:t>
                      </a:r>
                      <a:endParaRPr lang="en-IN" dirty="0"/>
                    </a:p>
                  </a:txBody>
                  <a:tcPr/>
                </a:tc>
                <a:tc>
                  <a:txBody>
                    <a:bodyPr/>
                    <a:lstStyle/>
                    <a:p>
                      <a:r>
                        <a:rPr lang="en-US" dirty="0"/>
                        <a:t>HAVELI</a:t>
                      </a:r>
                      <a:endParaRPr lang="en-IN" dirty="0"/>
                    </a:p>
                  </a:txBody>
                  <a:tcPr/>
                </a:tc>
                <a:tc>
                  <a:txBody>
                    <a:bodyPr/>
                    <a:lstStyle/>
                    <a:p>
                      <a:r>
                        <a:rPr lang="en-US" dirty="0"/>
                        <a:t>411046</a:t>
                      </a:r>
                      <a:endParaRPr lang="en-IN" dirty="0"/>
                    </a:p>
                  </a:txBody>
                  <a:tcPr/>
                </a:tc>
                <a:extLst>
                  <a:ext uri="{0D108BD9-81ED-4DB2-BD59-A6C34878D82A}">
                    <a16:rowId xmlns:a16="http://schemas.microsoft.com/office/drawing/2014/main" val="1832943741"/>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203956778"/>
                  </a:ext>
                </a:extLst>
              </a:tr>
            </a:tbl>
          </a:graphicData>
        </a:graphic>
      </p:graphicFrame>
    </p:spTree>
    <p:extLst>
      <p:ext uri="{BB962C8B-B14F-4D97-AF65-F5344CB8AC3E}">
        <p14:creationId xmlns:p14="http://schemas.microsoft.com/office/powerpoint/2010/main" val="2859283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6B42C8-C986-0B2E-0112-E3052D2A7BFE}"/>
              </a:ext>
            </a:extLst>
          </p:cNvPr>
          <p:cNvSpPr txBox="1"/>
          <p:nvPr/>
        </p:nvSpPr>
        <p:spPr>
          <a:xfrm>
            <a:off x="350520" y="756434"/>
            <a:ext cx="4663440" cy="369332"/>
          </a:xfrm>
          <a:prstGeom prst="rect">
            <a:avLst/>
          </a:prstGeom>
          <a:noFill/>
        </p:spPr>
        <p:txBody>
          <a:bodyPr wrap="square" rtlCol="0">
            <a:spAutoFit/>
          </a:bodyPr>
          <a:lstStyle/>
          <a:p>
            <a:r>
              <a:rPr lang="en-US" b="1" dirty="0"/>
              <a:t>INQUIRY  TABLE</a:t>
            </a:r>
            <a:endParaRPr lang="en-IN" b="1" dirty="0"/>
          </a:p>
        </p:txBody>
      </p:sp>
      <p:graphicFrame>
        <p:nvGraphicFramePr>
          <p:cNvPr id="7" name="Table 6">
            <a:extLst>
              <a:ext uri="{FF2B5EF4-FFF2-40B4-BE49-F238E27FC236}">
                <a16:creationId xmlns:a16="http://schemas.microsoft.com/office/drawing/2014/main" id="{C6A0C2AA-AFAA-A0A6-E73A-AE44E568904D}"/>
              </a:ext>
            </a:extLst>
          </p:cNvPr>
          <p:cNvGraphicFramePr>
            <a:graphicFrameLocks noGrp="1"/>
          </p:cNvGraphicFramePr>
          <p:nvPr>
            <p:extLst>
              <p:ext uri="{D42A27DB-BD31-4B8C-83A1-F6EECF244321}">
                <p14:modId xmlns:p14="http://schemas.microsoft.com/office/powerpoint/2010/main" val="1120038502"/>
              </p:ext>
            </p:extLst>
          </p:nvPr>
        </p:nvGraphicFramePr>
        <p:xfrm>
          <a:off x="350520" y="1371600"/>
          <a:ext cx="10212754" cy="192417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325902871"/>
                    </a:ext>
                  </a:extLst>
                </a:gridCol>
                <a:gridCol w="833338">
                  <a:extLst>
                    <a:ext uri="{9D8B030D-6E8A-4147-A177-3AD203B41FA5}">
                      <a16:colId xmlns:a16="http://schemas.microsoft.com/office/drawing/2014/main" val="2408702887"/>
                    </a:ext>
                  </a:extLst>
                </a:gridCol>
                <a:gridCol w="1247153">
                  <a:extLst>
                    <a:ext uri="{9D8B030D-6E8A-4147-A177-3AD203B41FA5}">
                      <a16:colId xmlns:a16="http://schemas.microsoft.com/office/drawing/2014/main" val="477818705"/>
                    </a:ext>
                  </a:extLst>
                </a:gridCol>
                <a:gridCol w="1003806">
                  <a:extLst>
                    <a:ext uri="{9D8B030D-6E8A-4147-A177-3AD203B41FA5}">
                      <a16:colId xmlns:a16="http://schemas.microsoft.com/office/drawing/2014/main" val="2618472755"/>
                    </a:ext>
                  </a:extLst>
                </a:gridCol>
                <a:gridCol w="1057346">
                  <a:extLst>
                    <a:ext uri="{9D8B030D-6E8A-4147-A177-3AD203B41FA5}">
                      <a16:colId xmlns:a16="http://schemas.microsoft.com/office/drawing/2014/main" val="88078772"/>
                    </a:ext>
                  </a:extLst>
                </a:gridCol>
                <a:gridCol w="935056">
                  <a:extLst>
                    <a:ext uri="{9D8B030D-6E8A-4147-A177-3AD203B41FA5}">
                      <a16:colId xmlns:a16="http://schemas.microsoft.com/office/drawing/2014/main" val="2367617729"/>
                    </a:ext>
                  </a:extLst>
                </a:gridCol>
                <a:gridCol w="1269123">
                  <a:extLst>
                    <a:ext uri="{9D8B030D-6E8A-4147-A177-3AD203B41FA5}">
                      <a16:colId xmlns:a16="http://schemas.microsoft.com/office/drawing/2014/main" val="3295885115"/>
                    </a:ext>
                  </a:extLst>
                </a:gridCol>
                <a:gridCol w="1132284">
                  <a:extLst>
                    <a:ext uri="{9D8B030D-6E8A-4147-A177-3AD203B41FA5}">
                      <a16:colId xmlns:a16="http://schemas.microsoft.com/office/drawing/2014/main" val="795623176"/>
                    </a:ext>
                  </a:extLst>
                </a:gridCol>
                <a:gridCol w="975031">
                  <a:extLst>
                    <a:ext uri="{9D8B030D-6E8A-4147-A177-3AD203B41FA5}">
                      <a16:colId xmlns:a16="http://schemas.microsoft.com/office/drawing/2014/main" val="2726943538"/>
                    </a:ext>
                  </a:extLst>
                </a:gridCol>
                <a:gridCol w="1551337">
                  <a:extLst>
                    <a:ext uri="{9D8B030D-6E8A-4147-A177-3AD203B41FA5}">
                      <a16:colId xmlns:a16="http://schemas.microsoft.com/office/drawing/2014/main" val="3624746700"/>
                    </a:ext>
                  </a:extLst>
                </a:gridCol>
              </a:tblGrid>
              <a:tr h="638111">
                <a:tc>
                  <a:txBody>
                    <a:bodyPr/>
                    <a:lstStyle/>
                    <a:p>
                      <a:endParaRPr lang="en-IN" dirty="0"/>
                    </a:p>
                  </a:txBody>
                  <a:tcPr/>
                </a:tc>
                <a:tc>
                  <a:txBody>
                    <a:bodyPr/>
                    <a:lstStyle/>
                    <a:p>
                      <a:r>
                        <a:rPr lang="en-US" dirty="0"/>
                        <a:t>NAME</a:t>
                      </a:r>
                    </a:p>
                  </a:txBody>
                  <a:tcPr/>
                </a:tc>
                <a:tc>
                  <a:txBody>
                    <a:bodyPr/>
                    <a:lstStyle/>
                    <a:p>
                      <a:r>
                        <a:rPr lang="en-US" dirty="0"/>
                        <a:t>CONTACT</a:t>
                      </a:r>
                      <a:endParaRPr lang="en-IN" dirty="0"/>
                    </a:p>
                  </a:txBody>
                  <a:tcPr/>
                </a:tc>
                <a:tc>
                  <a:txBody>
                    <a:bodyPr/>
                    <a:lstStyle/>
                    <a:p>
                      <a:r>
                        <a:rPr lang="en-US" dirty="0"/>
                        <a:t>EMAIL</a:t>
                      </a:r>
                      <a:endParaRPr lang="en-IN" dirty="0"/>
                    </a:p>
                  </a:txBody>
                  <a:tcPr/>
                </a:tc>
                <a:tc>
                  <a:txBody>
                    <a:bodyPr/>
                    <a:lstStyle/>
                    <a:p>
                      <a:r>
                        <a:rPr lang="en-US" dirty="0"/>
                        <a:t>STATE</a:t>
                      </a:r>
                      <a:endParaRPr lang="en-IN" dirty="0"/>
                    </a:p>
                  </a:txBody>
                  <a:tcPr/>
                </a:tc>
                <a:tc>
                  <a:txBody>
                    <a:bodyPr/>
                    <a:lstStyle/>
                    <a:p>
                      <a:r>
                        <a:rPr lang="en-US" dirty="0"/>
                        <a:t>CITY</a:t>
                      </a:r>
                      <a:endParaRPr lang="en-IN" dirty="0"/>
                    </a:p>
                  </a:txBody>
                  <a:tcPr/>
                </a:tc>
                <a:tc>
                  <a:txBody>
                    <a:bodyPr/>
                    <a:lstStyle/>
                    <a:p>
                      <a:r>
                        <a:rPr lang="en-US" dirty="0"/>
                        <a:t>DISTRICT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TALUKA</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PIN CODE</a:t>
                      </a:r>
                      <a:endParaRPr lang="en-IN" dirty="0"/>
                    </a:p>
                    <a:p>
                      <a:endParaRPr lang="en-IN" dirty="0"/>
                    </a:p>
                  </a:txBody>
                  <a:tcPr/>
                </a:tc>
                <a:tc>
                  <a:txBody>
                    <a:bodyPr/>
                    <a:lstStyle/>
                    <a:p>
                      <a:r>
                        <a:rPr lang="en-US" dirty="0"/>
                        <a:t>INQUIRY</a:t>
                      </a:r>
                    </a:p>
                    <a:p>
                      <a:r>
                        <a:rPr lang="en-US" dirty="0"/>
                        <a:t>SUBJECT</a:t>
                      </a:r>
                      <a:endParaRPr lang="en-IN" dirty="0"/>
                    </a:p>
                  </a:txBody>
                  <a:tcPr/>
                </a:tc>
                <a:extLst>
                  <a:ext uri="{0D108BD9-81ED-4DB2-BD59-A6C34878D82A}">
                    <a16:rowId xmlns:a16="http://schemas.microsoft.com/office/drawing/2014/main" val="2282069205"/>
                  </a:ext>
                </a:extLst>
              </a:tr>
              <a:tr h="638111">
                <a:tc>
                  <a:txBody>
                    <a:bodyPr/>
                    <a:lstStyle/>
                    <a:p>
                      <a:endParaRPr lang="en-IN" dirty="0"/>
                    </a:p>
                  </a:txBody>
                  <a:tcPr/>
                </a:tc>
                <a:tc>
                  <a:txBody>
                    <a:bodyPr/>
                    <a:lstStyle/>
                    <a:p>
                      <a:r>
                        <a:rPr lang="en-US" dirty="0"/>
                        <a:t>Jay</a:t>
                      </a:r>
                      <a:endParaRPr lang="en-IN" dirty="0"/>
                    </a:p>
                  </a:txBody>
                  <a:tcPr/>
                </a:tc>
                <a:tc>
                  <a:txBody>
                    <a:bodyPr/>
                    <a:lstStyle/>
                    <a:p>
                      <a:r>
                        <a:rPr lang="en-US" dirty="0"/>
                        <a:t>932280***</a:t>
                      </a:r>
                      <a:endParaRPr lang="en-IN" dirty="0"/>
                    </a:p>
                  </a:txBody>
                  <a:tcPr/>
                </a:tc>
                <a:tc>
                  <a:txBody>
                    <a:bodyPr/>
                    <a:lstStyle/>
                    <a:p>
                      <a:r>
                        <a:rPr lang="en-US" dirty="0"/>
                        <a:t>jay@gmail.com</a:t>
                      </a:r>
                      <a:endParaRPr lang="en-IN" dirty="0"/>
                    </a:p>
                  </a:txBody>
                  <a:tcPr/>
                </a:tc>
                <a:tc>
                  <a:txBody>
                    <a:bodyPr/>
                    <a:lstStyle/>
                    <a:p>
                      <a:r>
                        <a:rPr lang="en-US" dirty="0"/>
                        <a:t>MH</a:t>
                      </a:r>
                      <a:endParaRPr lang="en-IN" dirty="0"/>
                    </a:p>
                  </a:txBody>
                  <a:tcPr/>
                </a:tc>
                <a:tc>
                  <a:txBody>
                    <a:bodyPr/>
                    <a:lstStyle/>
                    <a:p>
                      <a:r>
                        <a:rPr lang="en-US" dirty="0"/>
                        <a:t>PUNE</a:t>
                      </a:r>
                      <a:endParaRPr lang="en-IN" dirty="0"/>
                    </a:p>
                  </a:txBody>
                  <a:tcPr/>
                </a:tc>
                <a:tc>
                  <a:txBody>
                    <a:bodyPr/>
                    <a:lstStyle/>
                    <a:p>
                      <a:r>
                        <a:rPr lang="en-US" dirty="0"/>
                        <a:t>PUNE</a:t>
                      </a:r>
                      <a:endParaRPr lang="en-IN" dirty="0"/>
                    </a:p>
                  </a:txBody>
                  <a:tcPr/>
                </a:tc>
                <a:tc>
                  <a:txBody>
                    <a:bodyPr/>
                    <a:lstStyle/>
                    <a:p>
                      <a:r>
                        <a:rPr lang="en-US" dirty="0"/>
                        <a:t>HAVELI</a:t>
                      </a:r>
                      <a:endParaRPr lang="en-IN" dirty="0"/>
                    </a:p>
                  </a:txBody>
                  <a:tcPr/>
                </a:tc>
                <a:tc>
                  <a:txBody>
                    <a:bodyPr/>
                    <a:lstStyle/>
                    <a:p>
                      <a:r>
                        <a:rPr lang="en-US" dirty="0"/>
                        <a:t>411046</a:t>
                      </a:r>
                      <a:endParaRPr lang="en-IN" dirty="0"/>
                    </a:p>
                  </a:txBody>
                  <a:tcPr/>
                </a:tc>
                <a:tc>
                  <a:txBody>
                    <a:bodyPr/>
                    <a:lstStyle/>
                    <a:p>
                      <a:r>
                        <a:rPr lang="en-US" dirty="0"/>
                        <a:t>For Franchise</a:t>
                      </a:r>
                      <a:endParaRPr lang="en-IN" dirty="0"/>
                    </a:p>
                  </a:txBody>
                  <a:tcPr/>
                </a:tc>
                <a:extLst>
                  <a:ext uri="{0D108BD9-81ED-4DB2-BD59-A6C34878D82A}">
                    <a16:rowId xmlns:a16="http://schemas.microsoft.com/office/drawing/2014/main" val="1832943741"/>
                  </a:ext>
                </a:extLst>
              </a:tr>
              <a:tr h="369699">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US" dirty="0"/>
                        <a:t>For course</a:t>
                      </a:r>
                      <a:endParaRPr lang="en-IN" dirty="0"/>
                    </a:p>
                  </a:txBody>
                  <a:tcPr/>
                </a:tc>
                <a:extLst>
                  <a:ext uri="{0D108BD9-81ED-4DB2-BD59-A6C34878D82A}">
                    <a16:rowId xmlns:a16="http://schemas.microsoft.com/office/drawing/2014/main" val="4203956778"/>
                  </a:ext>
                </a:extLst>
              </a:tr>
            </a:tbl>
          </a:graphicData>
        </a:graphic>
      </p:graphicFrame>
      <p:sp>
        <p:nvSpPr>
          <p:cNvPr id="8" name="TextBox 7">
            <a:extLst>
              <a:ext uri="{FF2B5EF4-FFF2-40B4-BE49-F238E27FC236}">
                <a16:creationId xmlns:a16="http://schemas.microsoft.com/office/drawing/2014/main" id="{6AFD99AB-7582-49F7-B790-319F071FDCB0}"/>
              </a:ext>
            </a:extLst>
          </p:cNvPr>
          <p:cNvSpPr txBox="1"/>
          <p:nvPr/>
        </p:nvSpPr>
        <p:spPr>
          <a:xfrm>
            <a:off x="350520" y="3486388"/>
            <a:ext cx="4221480" cy="369332"/>
          </a:xfrm>
          <a:prstGeom prst="rect">
            <a:avLst/>
          </a:prstGeom>
          <a:noFill/>
        </p:spPr>
        <p:txBody>
          <a:bodyPr wrap="square" rtlCol="0">
            <a:spAutoFit/>
          </a:bodyPr>
          <a:lstStyle/>
          <a:p>
            <a:r>
              <a:rPr lang="en-US" b="1" dirty="0"/>
              <a:t>COURSE TABLE</a:t>
            </a:r>
            <a:endParaRPr lang="en-IN" b="1" dirty="0"/>
          </a:p>
        </p:txBody>
      </p:sp>
      <p:graphicFrame>
        <p:nvGraphicFramePr>
          <p:cNvPr id="9" name="Table 8">
            <a:extLst>
              <a:ext uri="{FF2B5EF4-FFF2-40B4-BE49-F238E27FC236}">
                <a16:creationId xmlns:a16="http://schemas.microsoft.com/office/drawing/2014/main" id="{BC363B3D-FB90-E07B-E260-50023FEB3358}"/>
              </a:ext>
            </a:extLst>
          </p:cNvPr>
          <p:cNvGraphicFramePr>
            <a:graphicFrameLocks noGrp="1"/>
          </p:cNvGraphicFramePr>
          <p:nvPr>
            <p:extLst>
              <p:ext uri="{D42A27DB-BD31-4B8C-83A1-F6EECF244321}">
                <p14:modId xmlns:p14="http://schemas.microsoft.com/office/powerpoint/2010/main" val="657834417"/>
              </p:ext>
            </p:extLst>
          </p:nvPr>
        </p:nvGraphicFramePr>
        <p:xfrm>
          <a:off x="350520" y="4046329"/>
          <a:ext cx="8128002" cy="16510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30467414"/>
                    </a:ext>
                  </a:extLst>
                </a:gridCol>
                <a:gridCol w="1419013">
                  <a:extLst>
                    <a:ext uri="{9D8B030D-6E8A-4147-A177-3AD203B41FA5}">
                      <a16:colId xmlns:a16="http://schemas.microsoft.com/office/drawing/2014/main" val="3274681868"/>
                    </a:ext>
                  </a:extLst>
                </a:gridCol>
                <a:gridCol w="1290321">
                  <a:extLst>
                    <a:ext uri="{9D8B030D-6E8A-4147-A177-3AD203B41FA5}">
                      <a16:colId xmlns:a16="http://schemas.microsoft.com/office/drawing/2014/main" val="2769585430"/>
                    </a:ext>
                  </a:extLst>
                </a:gridCol>
                <a:gridCol w="1354667">
                  <a:extLst>
                    <a:ext uri="{9D8B030D-6E8A-4147-A177-3AD203B41FA5}">
                      <a16:colId xmlns:a16="http://schemas.microsoft.com/office/drawing/2014/main" val="2501416843"/>
                    </a:ext>
                  </a:extLst>
                </a:gridCol>
                <a:gridCol w="1354667">
                  <a:extLst>
                    <a:ext uri="{9D8B030D-6E8A-4147-A177-3AD203B41FA5}">
                      <a16:colId xmlns:a16="http://schemas.microsoft.com/office/drawing/2014/main" val="2028770203"/>
                    </a:ext>
                  </a:extLst>
                </a:gridCol>
                <a:gridCol w="1354667">
                  <a:extLst>
                    <a:ext uri="{9D8B030D-6E8A-4147-A177-3AD203B41FA5}">
                      <a16:colId xmlns:a16="http://schemas.microsoft.com/office/drawing/2014/main" val="2343350580"/>
                    </a:ext>
                  </a:extLst>
                </a:gridCol>
              </a:tblGrid>
              <a:tr h="370840">
                <a:tc>
                  <a:txBody>
                    <a:bodyPr/>
                    <a:lstStyle/>
                    <a:p>
                      <a:r>
                        <a:rPr lang="en-US" dirty="0"/>
                        <a:t>COURSE ID</a:t>
                      </a:r>
                      <a:endParaRPr lang="en-IN" dirty="0"/>
                    </a:p>
                  </a:txBody>
                  <a:tcPr/>
                </a:tc>
                <a:tc>
                  <a:txBody>
                    <a:bodyPr/>
                    <a:lstStyle/>
                    <a:p>
                      <a:r>
                        <a:rPr lang="en-US" dirty="0"/>
                        <a:t>COURSE NAME</a:t>
                      </a:r>
                      <a:endParaRPr lang="en-IN" dirty="0"/>
                    </a:p>
                  </a:txBody>
                  <a:tcPr/>
                </a:tc>
                <a:tc>
                  <a:txBody>
                    <a:bodyPr/>
                    <a:lstStyle/>
                    <a:p>
                      <a:r>
                        <a:rPr lang="en-US" dirty="0"/>
                        <a:t>COURSE DURATION</a:t>
                      </a:r>
                      <a:endParaRPr lang="en-IN" dirty="0"/>
                    </a:p>
                  </a:txBody>
                  <a:tcPr/>
                </a:tc>
                <a:tc>
                  <a:txBody>
                    <a:bodyPr/>
                    <a:lstStyle/>
                    <a:p>
                      <a:r>
                        <a:rPr lang="en-US" dirty="0"/>
                        <a:t>COURSE MEMBER</a:t>
                      </a:r>
                      <a:endParaRPr lang="en-IN" dirty="0"/>
                    </a:p>
                  </a:txBody>
                  <a:tcPr/>
                </a:tc>
                <a:tc>
                  <a:txBody>
                    <a:bodyPr/>
                    <a:lstStyle/>
                    <a:p>
                      <a:r>
                        <a:rPr lang="en-US" dirty="0"/>
                        <a:t>COURSE SYLLABUS</a:t>
                      </a:r>
                      <a:endParaRPr lang="en-IN" dirty="0"/>
                    </a:p>
                  </a:txBody>
                  <a:tcPr/>
                </a:tc>
                <a:tc>
                  <a:txBody>
                    <a:bodyPr/>
                    <a:lstStyle/>
                    <a:p>
                      <a:r>
                        <a:rPr lang="en-US" dirty="0"/>
                        <a:t>COURSE MODE</a:t>
                      </a:r>
                      <a:endParaRPr lang="en-IN" dirty="0"/>
                    </a:p>
                  </a:txBody>
                  <a:tcPr/>
                </a:tc>
                <a:extLst>
                  <a:ext uri="{0D108BD9-81ED-4DB2-BD59-A6C34878D82A}">
                    <a16:rowId xmlns:a16="http://schemas.microsoft.com/office/drawing/2014/main" val="957602429"/>
                  </a:ext>
                </a:extLst>
              </a:tr>
              <a:tr h="370840">
                <a:tc>
                  <a:txBody>
                    <a:bodyPr/>
                    <a:lstStyle/>
                    <a:p>
                      <a:r>
                        <a:rPr lang="en-US" dirty="0"/>
                        <a:t>101</a:t>
                      </a:r>
                      <a:endParaRPr lang="en-IN" dirty="0"/>
                    </a:p>
                  </a:txBody>
                  <a:tcPr/>
                </a:tc>
                <a:tc>
                  <a:txBody>
                    <a:bodyPr/>
                    <a:lstStyle/>
                    <a:p>
                      <a:r>
                        <a:rPr lang="en-US" dirty="0"/>
                        <a:t>DIGITAL MARKETING</a:t>
                      </a:r>
                      <a:endParaRPr lang="en-IN" dirty="0"/>
                    </a:p>
                  </a:txBody>
                  <a:tcPr/>
                </a:tc>
                <a:tc>
                  <a:txBody>
                    <a:bodyPr/>
                    <a:lstStyle/>
                    <a:p>
                      <a:r>
                        <a:rPr lang="en-US" dirty="0"/>
                        <a:t>3 MONTH</a:t>
                      </a:r>
                      <a:endParaRPr lang="en-IN" dirty="0"/>
                    </a:p>
                  </a:txBody>
                  <a:tcPr/>
                </a:tc>
                <a:tc>
                  <a:txBody>
                    <a:bodyPr/>
                    <a:lstStyle/>
                    <a:p>
                      <a:r>
                        <a:rPr lang="en-US" dirty="0"/>
                        <a:t>4 MEMBER</a:t>
                      </a:r>
                      <a:endParaRPr lang="en-IN" dirty="0"/>
                    </a:p>
                  </a:txBody>
                  <a:tcPr/>
                </a:tc>
                <a:tc>
                  <a:txBody>
                    <a:bodyPr/>
                    <a:lstStyle/>
                    <a:p>
                      <a:r>
                        <a:rPr lang="en-US" dirty="0"/>
                        <a:t>PDF UPLOAD</a:t>
                      </a:r>
                      <a:endParaRPr lang="en-IN" dirty="0"/>
                    </a:p>
                  </a:txBody>
                  <a:tcPr/>
                </a:tc>
                <a:tc>
                  <a:txBody>
                    <a:bodyPr/>
                    <a:lstStyle/>
                    <a:p>
                      <a:r>
                        <a:rPr lang="en-US" dirty="0"/>
                        <a:t>OFFLINE</a:t>
                      </a:r>
                      <a:endParaRPr lang="en-IN" dirty="0"/>
                    </a:p>
                  </a:txBody>
                  <a:tcPr/>
                </a:tc>
                <a:extLst>
                  <a:ext uri="{0D108BD9-81ED-4DB2-BD59-A6C34878D82A}">
                    <a16:rowId xmlns:a16="http://schemas.microsoft.com/office/drawing/2014/main" val="2529397186"/>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67869658"/>
                  </a:ext>
                </a:extLst>
              </a:tr>
            </a:tbl>
          </a:graphicData>
        </a:graphic>
      </p:graphicFrame>
    </p:spTree>
    <p:extLst>
      <p:ext uri="{BB962C8B-B14F-4D97-AF65-F5344CB8AC3E}">
        <p14:creationId xmlns:p14="http://schemas.microsoft.com/office/powerpoint/2010/main" val="368002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97E896-DFB0-82EF-E864-078FAA911016}"/>
              </a:ext>
            </a:extLst>
          </p:cNvPr>
          <p:cNvSpPr txBox="1"/>
          <p:nvPr/>
        </p:nvSpPr>
        <p:spPr>
          <a:xfrm>
            <a:off x="693420" y="716280"/>
            <a:ext cx="6964680" cy="369332"/>
          </a:xfrm>
          <a:prstGeom prst="rect">
            <a:avLst/>
          </a:prstGeom>
          <a:noFill/>
        </p:spPr>
        <p:txBody>
          <a:bodyPr wrap="square" rtlCol="0">
            <a:spAutoFit/>
          </a:bodyPr>
          <a:lstStyle/>
          <a:p>
            <a:r>
              <a:rPr lang="en-US" b="1" dirty="0"/>
              <a:t>BATCH TABLE</a:t>
            </a:r>
            <a:endParaRPr lang="en-IN" b="1" dirty="0"/>
          </a:p>
        </p:txBody>
      </p:sp>
      <p:graphicFrame>
        <p:nvGraphicFramePr>
          <p:cNvPr id="3" name="Table 2">
            <a:extLst>
              <a:ext uri="{FF2B5EF4-FFF2-40B4-BE49-F238E27FC236}">
                <a16:creationId xmlns:a16="http://schemas.microsoft.com/office/drawing/2014/main" id="{ED238B15-B0C8-2D18-2007-384E72CBD58B}"/>
              </a:ext>
            </a:extLst>
          </p:cNvPr>
          <p:cNvGraphicFramePr>
            <a:graphicFrameLocks noGrp="1"/>
          </p:cNvGraphicFramePr>
          <p:nvPr>
            <p:extLst>
              <p:ext uri="{D42A27DB-BD31-4B8C-83A1-F6EECF244321}">
                <p14:modId xmlns:p14="http://schemas.microsoft.com/office/powerpoint/2010/main" val="456367878"/>
              </p:ext>
            </p:extLst>
          </p:nvPr>
        </p:nvGraphicFramePr>
        <p:xfrm>
          <a:off x="701040" y="1253066"/>
          <a:ext cx="10012680" cy="1005840"/>
        </p:xfrm>
        <a:graphic>
          <a:graphicData uri="http://schemas.openxmlformats.org/drawingml/2006/table">
            <a:tbl>
              <a:tblPr firstRow="1" bandRow="1">
                <a:tableStyleId>{5C22544A-7EE6-4342-B048-85BDC9FD1C3A}</a:tableStyleId>
              </a:tblPr>
              <a:tblGrid>
                <a:gridCol w="995013">
                  <a:extLst>
                    <a:ext uri="{9D8B030D-6E8A-4147-A177-3AD203B41FA5}">
                      <a16:colId xmlns:a16="http://schemas.microsoft.com/office/drawing/2014/main" val="1936282697"/>
                    </a:ext>
                  </a:extLst>
                </a:gridCol>
                <a:gridCol w="1069260">
                  <a:extLst>
                    <a:ext uri="{9D8B030D-6E8A-4147-A177-3AD203B41FA5}">
                      <a16:colId xmlns:a16="http://schemas.microsoft.com/office/drawing/2014/main" val="1795618307"/>
                    </a:ext>
                  </a:extLst>
                </a:gridCol>
                <a:gridCol w="1373998">
                  <a:extLst>
                    <a:ext uri="{9D8B030D-6E8A-4147-A177-3AD203B41FA5}">
                      <a16:colId xmlns:a16="http://schemas.microsoft.com/office/drawing/2014/main" val="2522345111"/>
                    </a:ext>
                  </a:extLst>
                </a:gridCol>
                <a:gridCol w="1218956">
                  <a:extLst>
                    <a:ext uri="{9D8B030D-6E8A-4147-A177-3AD203B41FA5}">
                      <a16:colId xmlns:a16="http://schemas.microsoft.com/office/drawing/2014/main" val="4054348768"/>
                    </a:ext>
                  </a:extLst>
                </a:gridCol>
                <a:gridCol w="1427461">
                  <a:extLst>
                    <a:ext uri="{9D8B030D-6E8A-4147-A177-3AD203B41FA5}">
                      <a16:colId xmlns:a16="http://schemas.microsoft.com/office/drawing/2014/main" val="2307002545"/>
                    </a:ext>
                  </a:extLst>
                </a:gridCol>
                <a:gridCol w="1443500">
                  <a:extLst>
                    <a:ext uri="{9D8B030D-6E8A-4147-A177-3AD203B41FA5}">
                      <a16:colId xmlns:a16="http://schemas.microsoft.com/office/drawing/2014/main" val="4009095316"/>
                    </a:ext>
                  </a:extLst>
                </a:gridCol>
                <a:gridCol w="1196969">
                  <a:extLst>
                    <a:ext uri="{9D8B030D-6E8A-4147-A177-3AD203B41FA5}">
                      <a16:colId xmlns:a16="http://schemas.microsoft.com/office/drawing/2014/main" val="4272739236"/>
                    </a:ext>
                  </a:extLst>
                </a:gridCol>
                <a:gridCol w="1287523">
                  <a:extLst>
                    <a:ext uri="{9D8B030D-6E8A-4147-A177-3AD203B41FA5}">
                      <a16:colId xmlns:a16="http://schemas.microsoft.com/office/drawing/2014/main" val="874047023"/>
                    </a:ext>
                  </a:extLst>
                </a:gridCol>
              </a:tblGrid>
              <a:tr h="370840">
                <a:tc>
                  <a:txBody>
                    <a:bodyPr/>
                    <a:lstStyle/>
                    <a:p>
                      <a:r>
                        <a:rPr lang="en-US" dirty="0"/>
                        <a:t>BATCH NO</a:t>
                      </a:r>
                      <a:endParaRPr lang="en-IN" dirty="0"/>
                    </a:p>
                  </a:txBody>
                  <a:tcPr/>
                </a:tc>
                <a:tc>
                  <a:txBody>
                    <a:bodyPr/>
                    <a:lstStyle/>
                    <a:p>
                      <a:r>
                        <a:rPr lang="en-US" dirty="0"/>
                        <a:t>BATCH NAME</a:t>
                      </a:r>
                      <a:endParaRPr lang="en-IN" dirty="0"/>
                    </a:p>
                  </a:txBody>
                  <a:tcPr/>
                </a:tc>
                <a:tc>
                  <a:txBody>
                    <a:bodyPr/>
                    <a:lstStyle/>
                    <a:p>
                      <a:r>
                        <a:rPr lang="en-US" dirty="0"/>
                        <a:t>STARTING</a:t>
                      </a:r>
                    </a:p>
                    <a:p>
                      <a:r>
                        <a:rPr lang="en-US" dirty="0"/>
                        <a:t>DATE</a:t>
                      </a:r>
                      <a:endParaRPr lang="en-IN" dirty="0"/>
                    </a:p>
                  </a:txBody>
                  <a:tcPr/>
                </a:tc>
                <a:tc>
                  <a:txBody>
                    <a:bodyPr/>
                    <a:lstStyle/>
                    <a:p>
                      <a:r>
                        <a:rPr lang="en-US" dirty="0"/>
                        <a:t>ENDING </a:t>
                      </a:r>
                    </a:p>
                    <a:p>
                      <a:r>
                        <a:rPr lang="en-US" dirty="0"/>
                        <a:t>DATE</a:t>
                      </a:r>
                      <a:endParaRPr lang="en-IN" dirty="0"/>
                    </a:p>
                  </a:txBody>
                  <a:tcPr/>
                </a:tc>
                <a:tc>
                  <a:txBody>
                    <a:bodyPr/>
                    <a:lstStyle/>
                    <a:p>
                      <a:r>
                        <a:rPr lang="en-US" dirty="0"/>
                        <a:t>FACULTY NAME</a:t>
                      </a:r>
                      <a:endParaRPr lang="en-IN" dirty="0"/>
                    </a:p>
                  </a:txBody>
                  <a:tcPr/>
                </a:tc>
                <a:tc>
                  <a:txBody>
                    <a:bodyPr/>
                    <a:lstStyle/>
                    <a:p>
                      <a:r>
                        <a:rPr lang="en-US" dirty="0"/>
                        <a:t>DURATION</a:t>
                      </a:r>
                      <a:endParaRPr lang="en-IN" dirty="0"/>
                    </a:p>
                  </a:txBody>
                  <a:tcPr/>
                </a:tc>
                <a:tc>
                  <a:txBody>
                    <a:bodyPr/>
                    <a:lstStyle/>
                    <a:p>
                      <a:r>
                        <a:rPr lang="en-US" dirty="0"/>
                        <a:t>MODE</a:t>
                      </a:r>
                      <a:endParaRPr lang="en-IN" dirty="0"/>
                    </a:p>
                  </a:txBody>
                  <a:tcPr/>
                </a:tc>
                <a:tc>
                  <a:txBody>
                    <a:bodyPr/>
                    <a:lstStyle/>
                    <a:p>
                      <a:r>
                        <a:rPr lang="en-US" dirty="0"/>
                        <a:t>CAPACITY</a:t>
                      </a:r>
                      <a:endParaRPr lang="en-IN" dirty="0"/>
                    </a:p>
                  </a:txBody>
                  <a:tcPr/>
                </a:tc>
                <a:extLst>
                  <a:ext uri="{0D108BD9-81ED-4DB2-BD59-A6C34878D82A}">
                    <a16:rowId xmlns:a16="http://schemas.microsoft.com/office/drawing/2014/main" val="331031447"/>
                  </a:ext>
                </a:extLst>
              </a:tr>
              <a:tr h="240454">
                <a:tc>
                  <a:txBody>
                    <a:bodyPr/>
                    <a:lstStyle/>
                    <a:p>
                      <a:r>
                        <a:rPr lang="en-US" dirty="0"/>
                        <a:t>101</a:t>
                      </a:r>
                      <a:endParaRPr lang="en-IN" dirty="0"/>
                    </a:p>
                  </a:txBody>
                  <a:tcPr/>
                </a:tc>
                <a:tc>
                  <a:txBody>
                    <a:bodyPr/>
                    <a:lstStyle/>
                    <a:p>
                      <a:r>
                        <a:rPr lang="en-US" dirty="0"/>
                        <a:t>JAVA</a:t>
                      </a:r>
                      <a:endParaRPr lang="en-IN" dirty="0"/>
                    </a:p>
                  </a:txBody>
                  <a:tcPr/>
                </a:tc>
                <a:tc>
                  <a:txBody>
                    <a:bodyPr/>
                    <a:lstStyle/>
                    <a:p>
                      <a:r>
                        <a:rPr lang="en-US" dirty="0"/>
                        <a:t>1\01\2024</a:t>
                      </a:r>
                      <a:endParaRPr lang="en-IN" dirty="0"/>
                    </a:p>
                  </a:txBody>
                  <a:tcPr/>
                </a:tc>
                <a:tc>
                  <a:txBody>
                    <a:bodyPr/>
                    <a:lstStyle/>
                    <a:p>
                      <a:r>
                        <a:rPr lang="en-US" dirty="0"/>
                        <a:t>1/4/2024</a:t>
                      </a:r>
                      <a:endParaRPr lang="en-IN" dirty="0"/>
                    </a:p>
                  </a:txBody>
                  <a:tcPr/>
                </a:tc>
                <a:tc>
                  <a:txBody>
                    <a:bodyPr/>
                    <a:lstStyle/>
                    <a:p>
                      <a:r>
                        <a:rPr lang="en-US" dirty="0"/>
                        <a:t>MR. XYZ</a:t>
                      </a:r>
                      <a:endParaRPr lang="en-IN" dirty="0"/>
                    </a:p>
                  </a:txBody>
                  <a:tcPr/>
                </a:tc>
                <a:tc>
                  <a:txBody>
                    <a:bodyPr/>
                    <a:lstStyle/>
                    <a:p>
                      <a:r>
                        <a:rPr lang="en-US" dirty="0"/>
                        <a:t>3 MONTH</a:t>
                      </a:r>
                      <a:endParaRPr lang="en-IN" dirty="0"/>
                    </a:p>
                  </a:txBody>
                  <a:tcPr/>
                </a:tc>
                <a:tc>
                  <a:txBody>
                    <a:bodyPr/>
                    <a:lstStyle/>
                    <a:p>
                      <a:r>
                        <a:rPr lang="en-US" dirty="0"/>
                        <a:t>OFFLINE</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val="2276290024"/>
                  </a:ext>
                </a:extLst>
              </a:tr>
            </a:tbl>
          </a:graphicData>
        </a:graphic>
      </p:graphicFrame>
      <p:sp>
        <p:nvSpPr>
          <p:cNvPr id="5" name="TextBox 4">
            <a:extLst>
              <a:ext uri="{FF2B5EF4-FFF2-40B4-BE49-F238E27FC236}">
                <a16:creationId xmlns:a16="http://schemas.microsoft.com/office/drawing/2014/main" id="{E4CE7313-0721-2F6A-D629-0DD23AD6998F}"/>
              </a:ext>
            </a:extLst>
          </p:cNvPr>
          <p:cNvSpPr txBox="1"/>
          <p:nvPr/>
        </p:nvSpPr>
        <p:spPr>
          <a:xfrm>
            <a:off x="693420" y="2662673"/>
            <a:ext cx="5013960" cy="369332"/>
          </a:xfrm>
          <a:prstGeom prst="rect">
            <a:avLst/>
          </a:prstGeom>
          <a:noFill/>
        </p:spPr>
        <p:txBody>
          <a:bodyPr wrap="square" rtlCol="0">
            <a:spAutoFit/>
          </a:bodyPr>
          <a:lstStyle/>
          <a:p>
            <a:r>
              <a:rPr lang="en-US" b="1" dirty="0"/>
              <a:t>STUDENT FEE</a:t>
            </a:r>
            <a:endParaRPr lang="en-IN" b="1" dirty="0"/>
          </a:p>
        </p:txBody>
      </p:sp>
      <p:graphicFrame>
        <p:nvGraphicFramePr>
          <p:cNvPr id="7" name="Table 6">
            <a:extLst>
              <a:ext uri="{FF2B5EF4-FFF2-40B4-BE49-F238E27FC236}">
                <a16:creationId xmlns:a16="http://schemas.microsoft.com/office/drawing/2014/main" id="{88E64C36-17A6-6279-C733-F1BF44B39C1B}"/>
              </a:ext>
            </a:extLst>
          </p:cNvPr>
          <p:cNvGraphicFramePr>
            <a:graphicFrameLocks noGrp="1"/>
          </p:cNvGraphicFramePr>
          <p:nvPr>
            <p:extLst>
              <p:ext uri="{D42A27DB-BD31-4B8C-83A1-F6EECF244321}">
                <p14:modId xmlns:p14="http://schemas.microsoft.com/office/powerpoint/2010/main" val="876468395"/>
              </p:ext>
            </p:extLst>
          </p:nvPr>
        </p:nvGraphicFramePr>
        <p:xfrm>
          <a:off x="701040" y="3191932"/>
          <a:ext cx="10363200" cy="1010920"/>
        </p:xfrm>
        <a:graphic>
          <a:graphicData uri="http://schemas.openxmlformats.org/drawingml/2006/table">
            <a:tbl>
              <a:tblPr firstRow="1" bandRow="1">
                <a:tableStyleId>{5C22544A-7EE6-4342-B048-85BDC9FD1C3A}</a:tableStyleId>
              </a:tblPr>
              <a:tblGrid>
                <a:gridCol w="1264920">
                  <a:extLst>
                    <a:ext uri="{9D8B030D-6E8A-4147-A177-3AD203B41FA5}">
                      <a16:colId xmlns:a16="http://schemas.microsoft.com/office/drawing/2014/main" val="2521479351"/>
                    </a:ext>
                  </a:extLst>
                </a:gridCol>
                <a:gridCol w="1219200">
                  <a:extLst>
                    <a:ext uri="{9D8B030D-6E8A-4147-A177-3AD203B41FA5}">
                      <a16:colId xmlns:a16="http://schemas.microsoft.com/office/drawing/2014/main" val="3811173745"/>
                    </a:ext>
                  </a:extLst>
                </a:gridCol>
                <a:gridCol w="999309">
                  <a:extLst>
                    <a:ext uri="{9D8B030D-6E8A-4147-A177-3AD203B41FA5}">
                      <a16:colId xmlns:a16="http://schemas.microsoft.com/office/drawing/2014/main" val="1303090673"/>
                    </a:ext>
                  </a:extLst>
                </a:gridCol>
                <a:gridCol w="1728651">
                  <a:extLst>
                    <a:ext uri="{9D8B030D-6E8A-4147-A177-3AD203B41FA5}">
                      <a16:colId xmlns:a16="http://schemas.microsoft.com/office/drawing/2014/main" val="86045062"/>
                    </a:ext>
                  </a:extLst>
                </a:gridCol>
                <a:gridCol w="1661160">
                  <a:extLst>
                    <a:ext uri="{9D8B030D-6E8A-4147-A177-3AD203B41FA5}">
                      <a16:colId xmlns:a16="http://schemas.microsoft.com/office/drawing/2014/main" val="198466653"/>
                    </a:ext>
                  </a:extLst>
                </a:gridCol>
                <a:gridCol w="1767840">
                  <a:extLst>
                    <a:ext uri="{9D8B030D-6E8A-4147-A177-3AD203B41FA5}">
                      <a16:colId xmlns:a16="http://schemas.microsoft.com/office/drawing/2014/main" val="2674418642"/>
                    </a:ext>
                  </a:extLst>
                </a:gridCol>
                <a:gridCol w="1722120">
                  <a:extLst>
                    <a:ext uri="{9D8B030D-6E8A-4147-A177-3AD203B41FA5}">
                      <a16:colId xmlns:a16="http://schemas.microsoft.com/office/drawing/2014/main" val="2531167033"/>
                    </a:ext>
                  </a:extLst>
                </a:gridCol>
              </a:tblGrid>
              <a:tr h="370840">
                <a:tc>
                  <a:txBody>
                    <a:bodyPr/>
                    <a:lstStyle/>
                    <a:p>
                      <a:r>
                        <a:rPr lang="en-US" dirty="0"/>
                        <a:t>STUDENT NO</a:t>
                      </a:r>
                      <a:endParaRPr lang="en-IN" dirty="0"/>
                    </a:p>
                  </a:txBody>
                  <a:tcPr/>
                </a:tc>
                <a:tc>
                  <a:txBody>
                    <a:bodyPr/>
                    <a:lstStyle/>
                    <a:p>
                      <a:r>
                        <a:rPr lang="en-US" dirty="0"/>
                        <a:t>STUDENT</a:t>
                      </a:r>
                    </a:p>
                    <a:p>
                      <a:r>
                        <a:rPr lang="en-US" dirty="0"/>
                        <a:t>NAME </a:t>
                      </a:r>
                      <a:endParaRPr lang="en-IN" dirty="0"/>
                    </a:p>
                  </a:txBody>
                  <a:tcPr/>
                </a:tc>
                <a:tc>
                  <a:txBody>
                    <a:bodyPr/>
                    <a:lstStyle/>
                    <a:p>
                      <a:r>
                        <a:rPr lang="en-US" dirty="0"/>
                        <a:t>TOTAL FEE</a:t>
                      </a:r>
                      <a:endParaRPr lang="en-IN" dirty="0"/>
                    </a:p>
                  </a:txBody>
                  <a:tcPr/>
                </a:tc>
                <a:tc>
                  <a:txBody>
                    <a:bodyPr/>
                    <a:lstStyle/>
                    <a:p>
                      <a:r>
                        <a:rPr lang="en-US" dirty="0"/>
                        <a:t>1</a:t>
                      </a:r>
                      <a:r>
                        <a:rPr lang="en-US" baseline="30000" dirty="0"/>
                        <a:t>ST</a:t>
                      </a:r>
                      <a:r>
                        <a:rPr lang="en-US" dirty="0"/>
                        <a:t> INSTALLMENT</a:t>
                      </a:r>
                      <a:endParaRPr lang="en-IN" dirty="0"/>
                    </a:p>
                  </a:txBody>
                  <a:tcPr/>
                </a:tc>
                <a:tc>
                  <a:txBody>
                    <a:bodyPr/>
                    <a:lstStyle/>
                    <a:p>
                      <a:r>
                        <a:rPr lang="en-US" dirty="0"/>
                        <a:t>2</a:t>
                      </a:r>
                      <a:r>
                        <a:rPr lang="en-US" baseline="30000" dirty="0"/>
                        <a:t>ND</a:t>
                      </a:r>
                      <a:endParaRPr lang="en-US" dirty="0"/>
                    </a:p>
                    <a:p>
                      <a:r>
                        <a:rPr lang="en-US" dirty="0"/>
                        <a:t>INSTALLMENT</a:t>
                      </a:r>
                      <a:endParaRPr lang="en-IN" dirty="0"/>
                    </a:p>
                  </a:txBody>
                  <a:tcPr/>
                </a:tc>
                <a:tc>
                  <a:txBody>
                    <a:bodyPr/>
                    <a:lstStyle/>
                    <a:p>
                      <a:r>
                        <a:rPr lang="en-US" dirty="0"/>
                        <a:t>3</a:t>
                      </a:r>
                      <a:r>
                        <a:rPr lang="en-US" baseline="30000" dirty="0"/>
                        <a:t>RD</a:t>
                      </a:r>
                      <a:r>
                        <a:rPr lang="en-US" dirty="0"/>
                        <a:t> INSTALLMENT</a:t>
                      </a:r>
                      <a:endParaRPr lang="en-IN" dirty="0"/>
                    </a:p>
                  </a:txBody>
                  <a:tcPr/>
                </a:tc>
                <a:tc>
                  <a:txBody>
                    <a:bodyPr/>
                    <a:lstStyle/>
                    <a:p>
                      <a:r>
                        <a:rPr lang="en-US" dirty="0"/>
                        <a:t>BALANCE AMOUNT</a:t>
                      </a:r>
                      <a:endParaRPr lang="en-IN" dirty="0"/>
                    </a:p>
                  </a:txBody>
                  <a:tcPr/>
                </a:tc>
                <a:extLst>
                  <a:ext uri="{0D108BD9-81ED-4DB2-BD59-A6C34878D82A}">
                    <a16:rowId xmlns:a16="http://schemas.microsoft.com/office/drawing/2014/main" val="12959646"/>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41426994"/>
                  </a:ext>
                </a:extLst>
              </a:tr>
            </a:tbl>
          </a:graphicData>
        </a:graphic>
      </p:graphicFrame>
      <p:sp>
        <p:nvSpPr>
          <p:cNvPr id="8" name="TextBox 7">
            <a:extLst>
              <a:ext uri="{FF2B5EF4-FFF2-40B4-BE49-F238E27FC236}">
                <a16:creationId xmlns:a16="http://schemas.microsoft.com/office/drawing/2014/main" id="{91E813CE-80CD-9263-BCDA-3303232AEC77}"/>
              </a:ext>
            </a:extLst>
          </p:cNvPr>
          <p:cNvSpPr txBox="1"/>
          <p:nvPr/>
        </p:nvSpPr>
        <p:spPr>
          <a:xfrm>
            <a:off x="693420" y="4492228"/>
            <a:ext cx="5189220" cy="369332"/>
          </a:xfrm>
          <a:prstGeom prst="rect">
            <a:avLst/>
          </a:prstGeom>
          <a:noFill/>
        </p:spPr>
        <p:txBody>
          <a:bodyPr wrap="square" rtlCol="0">
            <a:spAutoFit/>
          </a:bodyPr>
          <a:lstStyle/>
          <a:p>
            <a:r>
              <a:rPr lang="en-US" b="1" dirty="0"/>
              <a:t>STUDENT INFO</a:t>
            </a:r>
            <a:endParaRPr lang="en-IN" b="1" dirty="0"/>
          </a:p>
        </p:txBody>
      </p:sp>
      <p:graphicFrame>
        <p:nvGraphicFramePr>
          <p:cNvPr id="4" name="Table 3">
            <a:extLst>
              <a:ext uri="{FF2B5EF4-FFF2-40B4-BE49-F238E27FC236}">
                <a16:creationId xmlns:a16="http://schemas.microsoft.com/office/drawing/2014/main" id="{D044CEA2-7E8A-D4C6-45DA-9564C533F554}"/>
              </a:ext>
            </a:extLst>
          </p:cNvPr>
          <p:cNvGraphicFramePr>
            <a:graphicFrameLocks noGrp="1"/>
          </p:cNvGraphicFramePr>
          <p:nvPr>
            <p:extLst>
              <p:ext uri="{D42A27DB-BD31-4B8C-83A1-F6EECF244321}">
                <p14:modId xmlns:p14="http://schemas.microsoft.com/office/powerpoint/2010/main" val="1649861951"/>
              </p:ext>
            </p:extLst>
          </p:nvPr>
        </p:nvGraphicFramePr>
        <p:xfrm>
          <a:off x="693419" y="5133701"/>
          <a:ext cx="8795814" cy="1010920"/>
        </p:xfrm>
        <a:graphic>
          <a:graphicData uri="http://schemas.openxmlformats.org/drawingml/2006/table">
            <a:tbl>
              <a:tblPr firstRow="1" bandRow="1">
                <a:tableStyleId>{5C22544A-7EE6-4342-B048-85BDC9FD1C3A}</a:tableStyleId>
              </a:tblPr>
              <a:tblGrid>
                <a:gridCol w="540926">
                  <a:extLst>
                    <a:ext uri="{9D8B030D-6E8A-4147-A177-3AD203B41FA5}">
                      <a16:colId xmlns:a16="http://schemas.microsoft.com/office/drawing/2014/main" val="934618704"/>
                    </a:ext>
                  </a:extLst>
                </a:gridCol>
                <a:gridCol w="949630">
                  <a:extLst>
                    <a:ext uri="{9D8B030D-6E8A-4147-A177-3AD203B41FA5}">
                      <a16:colId xmlns:a16="http://schemas.microsoft.com/office/drawing/2014/main" val="928764836"/>
                    </a:ext>
                  </a:extLst>
                </a:gridCol>
                <a:gridCol w="1008981">
                  <a:extLst>
                    <a:ext uri="{9D8B030D-6E8A-4147-A177-3AD203B41FA5}">
                      <a16:colId xmlns:a16="http://schemas.microsoft.com/office/drawing/2014/main" val="1853218963"/>
                    </a:ext>
                  </a:extLst>
                </a:gridCol>
                <a:gridCol w="1276065">
                  <a:extLst>
                    <a:ext uri="{9D8B030D-6E8A-4147-A177-3AD203B41FA5}">
                      <a16:colId xmlns:a16="http://schemas.microsoft.com/office/drawing/2014/main" val="3617019342"/>
                    </a:ext>
                  </a:extLst>
                </a:gridCol>
                <a:gridCol w="1137578">
                  <a:extLst>
                    <a:ext uri="{9D8B030D-6E8A-4147-A177-3AD203B41FA5}">
                      <a16:colId xmlns:a16="http://schemas.microsoft.com/office/drawing/2014/main" val="1144597528"/>
                    </a:ext>
                  </a:extLst>
                </a:gridCol>
                <a:gridCol w="1102111">
                  <a:extLst>
                    <a:ext uri="{9D8B030D-6E8A-4147-A177-3AD203B41FA5}">
                      <a16:colId xmlns:a16="http://schemas.microsoft.com/office/drawing/2014/main" val="628235734"/>
                    </a:ext>
                  </a:extLst>
                </a:gridCol>
                <a:gridCol w="1017037">
                  <a:extLst>
                    <a:ext uri="{9D8B030D-6E8A-4147-A177-3AD203B41FA5}">
                      <a16:colId xmlns:a16="http://schemas.microsoft.com/office/drawing/2014/main" val="2646797454"/>
                    </a:ext>
                  </a:extLst>
                </a:gridCol>
                <a:gridCol w="1763486">
                  <a:extLst>
                    <a:ext uri="{9D8B030D-6E8A-4147-A177-3AD203B41FA5}">
                      <a16:colId xmlns:a16="http://schemas.microsoft.com/office/drawing/2014/main" val="2598159687"/>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EMAIL  </a:t>
                      </a:r>
                      <a:endParaRPr lang="en-IN" dirty="0"/>
                    </a:p>
                  </a:txBody>
                  <a:tcPr/>
                </a:tc>
                <a:tc>
                  <a:txBody>
                    <a:bodyPr/>
                    <a:lstStyle/>
                    <a:p>
                      <a:r>
                        <a:rPr lang="en-US" dirty="0"/>
                        <a:t>CONTACT</a:t>
                      </a:r>
                      <a:endParaRPr lang="en-IN" dirty="0"/>
                    </a:p>
                  </a:txBody>
                  <a:tcPr/>
                </a:tc>
                <a:tc>
                  <a:txBody>
                    <a:bodyPr/>
                    <a:lstStyle/>
                    <a:p>
                      <a:r>
                        <a:rPr lang="en-US" dirty="0"/>
                        <a:t>GENDER</a:t>
                      </a:r>
                      <a:endParaRPr lang="en-IN" dirty="0"/>
                    </a:p>
                  </a:txBody>
                  <a:tcPr/>
                </a:tc>
                <a:tc>
                  <a:txBody>
                    <a:bodyPr/>
                    <a:lstStyle/>
                    <a:p>
                      <a:r>
                        <a:rPr lang="en-US" dirty="0"/>
                        <a:t>COURSE ID</a:t>
                      </a:r>
                      <a:endParaRPr lang="en-IN" dirty="0"/>
                    </a:p>
                  </a:txBody>
                  <a:tcPr/>
                </a:tc>
                <a:tc>
                  <a:txBody>
                    <a:bodyPr/>
                    <a:lstStyle/>
                    <a:p>
                      <a:r>
                        <a:rPr lang="en-US" dirty="0"/>
                        <a:t>BATCH NO</a:t>
                      </a:r>
                      <a:endParaRPr lang="en-IN" dirty="0"/>
                    </a:p>
                  </a:txBody>
                  <a:tcPr/>
                </a:tc>
                <a:tc>
                  <a:txBody>
                    <a:bodyPr/>
                    <a:lstStyle/>
                    <a:p>
                      <a:r>
                        <a:rPr lang="en-US" dirty="0"/>
                        <a:t>FRANCHISEID</a:t>
                      </a:r>
                      <a:endParaRPr lang="en-IN" dirty="0"/>
                    </a:p>
                  </a:txBody>
                  <a:tcPr/>
                </a:tc>
                <a:extLst>
                  <a:ext uri="{0D108BD9-81ED-4DB2-BD59-A6C34878D82A}">
                    <a16:rowId xmlns:a16="http://schemas.microsoft.com/office/drawing/2014/main" val="3426886670"/>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234233341"/>
                  </a:ext>
                </a:extLst>
              </a:tr>
            </a:tbl>
          </a:graphicData>
        </a:graphic>
      </p:graphicFrame>
    </p:spTree>
    <p:extLst>
      <p:ext uri="{BB962C8B-B14F-4D97-AF65-F5344CB8AC3E}">
        <p14:creationId xmlns:p14="http://schemas.microsoft.com/office/powerpoint/2010/main" val="2732671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8BD72D-688B-C9E7-A1FA-7AC18AD5227C}"/>
              </a:ext>
            </a:extLst>
          </p:cNvPr>
          <p:cNvSpPr txBox="1"/>
          <p:nvPr/>
        </p:nvSpPr>
        <p:spPr>
          <a:xfrm>
            <a:off x="201930" y="438433"/>
            <a:ext cx="4907280" cy="369332"/>
          </a:xfrm>
          <a:prstGeom prst="rect">
            <a:avLst/>
          </a:prstGeom>
          <a:noFill/>
        </p:spPr>
        <p:txBody>
          <a:bodyPr wrap="square" rtlCol="0">
            <a:spAutoFit/>
          </a:bodyPr>
          <a:lstStyle/>
          <a:p>
            <a:r>
              <a:rPr lang="en-US" b="1" dirty="0"/>
              <a:t>AGREEMENT DETAILS TABLE</a:t>
            </a:r>
            <a:endParaRPr lang="en-IN" b="1" dirty="0"/>
          </a:p>
        </p:txBody>
      </p:sp>
      <p:graphicFrame>
        <p:nvGraphicFramePr>
          <p:cNvPr id="3" name="Table 2">
            <a:extLst>
              <a:ext uri="{FF2B5EF4-FFF2-40B4-BE49-F238E27FC236}">
                <a16:creationId xmlns:a16="http://schemas.microsoft.com/office/drawing/2014/main" id="{14183334-63E1-8067-D7D3-BC91B3F1DB06}"/>
              </a:ext>
            </a:extLst>
          </p:cNvPr>
          <p:cNvGraphicFramePr>
            <a:graphicFrameLocks noGrp="1"/>
          </p:cNvGraphicFramePr>
          <p:nvPr>
            <p:extLst>
              <p:ext uri="{D42A27DB-BD31-4B8C-83A1-F6EECF244321}">
                <p14:modId xmlns:p14="http://schemas.microsoft.com/office/powerpoint/2010/main" val="905984340"/>
              </p:ext>
            </p:extLst>
          </p:nvPr>
        </p:nvGraphicFramePr>
        <p:xfrm>
          <a:off x="289560" y="1131146"/>
          <a:ext cx="10850879" cy="2297854"/>
        </p:xfrm>
        <a:graphic>
          <a:graphicData uri="http://schemas.openxmlformats.org/drawingml/2006/table">
            <a:tbl>
              <a:tblPr firstRow="1" bandRow="1">
                <a:tableStyleId>{5C22544A-7EE6-4342-B048-85BDC9FD1C3A}</a:tableStyleId>
              </a:tblPr>
              <a:tblGrid>
                <a:gridCol w="880573">
                  <a:extLst>
                    <a:ext uri="{9D8B030D-6E8A-4147-A177-3AD203B41FA5}">
                      <a16:colId xmlns:a16="http://schemas.microsoft.com/office/drawing/2014/main" val="978648606"/>
                    </a:ext>
                  </a:extLst>
                </a:gridCol>
                <a:gridCol w="1208629">
                  <a:extLst>
                    <a:ext uri="{9D8B030D-6E8A-4147-A177-3AD203B41FA5}">
                      <a16:colId xmlns:a16="http://schemas.microsoft.com/office/drawing/2014/main" val="375223217"/>
                    </a:ext>
                  </a:extLst>
                </a:gridCol>
                <a:gridCol w="1105032">
                  <a:extLst>
                    <a:ext uri="{9D8B030D-6E8A-4147-A177-3AD203B41FA5}">
                      <a16:colId xmlns:a16="http://schemas.microsoft.com/office/drawing/2014/main" val="341675177"/>
                    </a:ext>
                  </a:extLst>
                </a:gridCol>
                <a:gridCol w="1743880">
                  <a:extLst>
                    <a:ext uri="{9D8B030D-6E8A-4147-A177-3AD203B41FA5}">
                      <a16:colId xmlns:a16="http://schemas.microsoft.com/office/drawing/2014/main" val="3622097634"/>
                    </a:ext>
                  </a:extLst>
                </a:gridCol>
                <a:gridCol w="1160555">
                  <a:extLst>
                    <a:ext uri="{9D8B030D-6E8A-4147-A177-3AD203B41FA5}">
                      <a16:colId xmlns:a16="http://schemas.microsoft.com/office/drawing/2014/main" val="3693983187"/>
                    </a:ext>
                  </a:extLst>
                </a:gridCol>
                <a:gridCol w="1013805">
                  <a:extLst>
                    <a:ext uri="{9D8B030D-6E8A-4147-A177-3AD203B41FA5}">
                      <a16:colId xmlns:a16="http://schemas.microsoft.com/office/drawing/2014/main" val="3571636870"/>
                    </a:ext>
                  </a:extLst>
                </a:gridCol>
                <a:gridCol w="1298937">
                  <a:extLst>
                    <a:ext uri="{9D8B030D-6E8A-4147-A177-3AD203B41FA5}">
                      <a16:colId xmlns:a16="http://schemas.microsoft.com/office/drawing/2014/main" val="3435911485"/>
                    </a:ext>
                  </a:extLst>
                </a:gridCol>
                <a:gridCol w="1219734">
                  <a:extLst>
                    <a:ext uri="{9D8B030D-6E8A-4147-A177-3AD203B41FA5}">
                      <a16:colId xmlns:a16="http://schemas.microsoft.com/office/drawing/2014/main" val="3188040410"/>
                    </a:ext>
                  </a:extLst>
                </a:gridCol>
                <a:gridCol w="1219734">
                  <a:extLst>
                    <a:ext uri="{9D8B030D-6E8A-4147-A177-3AD203B41FA5}">
                      <a16:colId xmlns:a16="http://schemas.microsoft.com/office/drawing/2014/main" val="1487007700"/>
                    </a:ext>
                  </a:extLst>
                </a:gridCol>
              </a:tblGrid>
              <a:tr h="1380129">
                <a:tc>
                  <a:txBody>
                    <a:bodyPr/>
                    <a:lstStyle/>
                    <a:p>
                      <a:r>
                        <a:rPr lang="en-US" dirty="0"/>
                        <a:t>AGR. ID</a:t>
                      </a:r>
                      <a:endParaRPr lang="en-IN" dirty="0"/>
                    </a:p>
                  </a:txBody>
                  <a:tcPr/>
                </a:tc>
                <a:tc>
                  <a:txBody>
                    <a:bodyPr/>
                    <a:lstStyle/>
                    <a:p>
                      <a:r>
                        <a:rPr lang="en-US" dirty="0"/>
                        <a:t>PARTY A</a:t>
                      </a:r>
                      <a:endParaRPr lang="en-IN" dirty="0"/>
                    </a:p>
                  </a:txBody>
                  <a:tcPr/>
                </a:tc>
                <a:tc>
                  <a:txBody>
                    <a:bodyPr/>
                    <a:lstStyle/>
                    <a:p>
                      <a:r>
                        <a:rPr lang="en-US" dirty="0"/>
                        <a:t>PARTY B</a:t>
                      </a:r>
                      <a:endParaRPr lang="en-IN" dirty="0"/>
                    </a:p>
                  </a:txBody>
                  <a:tcPr/>
                </a:tc>
                <a:tc>
                  <a:txBody>
                    <a:bodyPr/>
                    <a:lstStyle/>
                    <a:p>
                      <a:r>
                        <a:rPr lang="en-US" dirty="0"/>
                        <a:t>AGREEMENT  COPY PDF</a:t>
                      </a:r>
                      <a:endParaRPr lang="en-IN" dirty="0"/>
                    </a:p>
                  </a:txBody>
                  <a:tcPr/>
                </a:tc>
                <a:tc>
                  <a:txBody>
                    <a:bodyPr/>
                    <a:lstStyle/>
                    <a:p>
                      <a:r>
                        <a:rPr lang="en-US" dirty="0"/>
                        <a:t>START DATE</a:t>
                      </a:r>
                      <a:endParaRPr lang="en-IN" dirty="0"/>
                    </a:p>
                  </a:txBody>
                  <a:tcPr/>
                </a:tc>
                <a:tc>
                  <a:txBody>
                    <a:bodyPr/>
                    <a:lstStyle/>
                    <a:p>
                      <a:r>
                        <a:rPr lang="en-US" dirty="0"/>
                        <a:t>END DATE</a:t>
                      </a:r>
                      <a:endParaRPr lang="en-IN" dirty="0"/>
                    </a:p>
                  </a:txBody>
                  <a:tcPr/>
                </a:tc>
                <a:tc>
                  <a:txBody>
                    <a:bodyPr/>
                    <a:lstStyle/>
                    <a:p>
                      <a:r>
                        <a:rPr lang="en-US" dirty="0"/>
                        <a:t>FEE OF JOINING</a:t>
                      </a:r>
                      <a:endParaRPr lang="en-IN" dirty="0"/>
                    </a:p>
                  </a:txBody>
                  <a:tcPr/>
                </a:tc>
                <a:tc>
                  <a:txBody>
                    <a:bodyPr/>
                    <a:lstStyle/>
                    <a:p>
                      <a:r>
                        <a:rPr lang="en-US" dirty="0"/>
                        <a:t>REVENUE TO % A</a:t>
                      </a:r>
                      <a:endParaRPr lang="en-IN" dirty="0"/>
                    </a:p>
                  </a:txBody>
                  <a:tcPr/>
                </a:tc>
                <a:tc>
                  <a:txBody>
                    <a:bodyPr/>
                    <a:lstStyle/>
                    <a:p>
                      <a:r>
                        <a:rPr lang="en-US" dirty="0"/>
                        <a:t>REVENUE TO % B</a:t>
                      </a:r>
                      <a:endParaRPr lang="en-IN" dirty="0"/>
                    </a:p>
                  </a:txBody>
                  <a:tcPr/>
                </a:tc>
                <a:extLst>
                  <a:ext uri="{0D108BD9-81ED-4DB2-BD59-A6C34878D82A}">
                    <a16:rowId xmlns:a16="http://schemas.microsoft.com/office/drawing/2014/main" val="1856003012"/>
                  </a:ext>
                </a:extLst>
              </a:tr>
              <a:tr h="917725">
                <a:tc>
                  <a:txBody>
                    <a:bodyPr/>
                    <a:lstStyle/>
                    <a:p>
                      <a:r>
                        <a:rPr lang="en-US" dirty="0"/>
                        <a:t>501</a:t>
                      </a:r>
                      <a:endParaRPr lang="en-IN" dirty="0"/>
                    </a:p>
                  </a:txBody>
                  <a:tcPr/>
                </a:tc>
                <a:tc>
                  <a:txBody>
                    <a:bodyPr/>
                    <a:lstStyle/>
                    <a:p>
                      <a:r>
                        <a:rPr lang="en-US" dirty="0"/>
                        <a:t>LTOR</a:t>
                      </a:r>
                      <a:endParaRPr lang="en-IN" dirty="0"/>
                    </a:p>
                  </a:txBody>
                  <a:tcPr/>
                </a:tc>
                <a:tc>
                  <a:txBody>
                    <a:bodyPr/>
                    <a:lstStyle/>
                    <a:p>
                      <a:r>
                        <a:rPr lang="en-US" dirty="0"/>
                        <a:t>XYZ</a:t>
                      </a:r>
                      <a:endParaRPr lang="en-IN" dirty="0"/>
                    </a:p>
                  </a:txBody>
                  <a:tcPr/>
                </a:tc>
                <a:tc>
                  <a:txBody>
                    <a:bodyPr/>
                    <a:lstStyle/>
                    <a:p>
                      <a:r>
                        <a:rPr lang="en-US" dirty="0"/>
                        <a:t>DOCUMENT.PDF</a:t>
                      </a:r>
                      <a:endParaRPr lang="en-IN" dirty="0"/>
                    </a:p>
                  </a:txBody>
                  <a:tcPr/>
                </a:tc>
                <a:tc>
                  <a:txBody>
                    <a:bodyPr/>
                    <a:lstStyle/>
                    <a:p>
                      <a:r>
                        <a:rPr lang="en-US" dirty="0"/>
                        <a:t>12/12/2023</a:t>
                      </a:r>
                      <a:endParaRPr lang="en-IN" dirty="0"/>
                    </a:p>
                  </a:txBody>
                  <a:tcPr/>
                </a:tc>
                <a:tc>
                  <a:txBody>
                    <a:bodyPr/>
                    <a:lstStyle/>
                    <a:p>
                      <a:r>
                        <a:rPr lang="en-US" dirty="0"/>
                        <a:t>19/09/2024</a:t>
                      </a:r>
                      <a:endParaRPr lang="en-IN" dirty="0"/>
                    </a:p>
                  </a:txBody>
                  <a:tcPr/>
                </a:tc>
                <a:tc>
                  <a:txBody>
                    <a:bodyPr/>
                    <a:lstStyle/>
                    <a:p>
                      <a:r>
                        <a:rPr lang="en-US" dirty="0"/>
                        <a:t>7000</a:t>
                      </a:r>
                      <a:endParaRPr lang="en-IN" dirty="0"/>
                    </a:p>
                  </a:txBody>
                  <a:tcPr/>
                </a:tc>
                <a:tc>
                  <a:txBody>
                    <a:bodyPr/>
                    <a:lstStyle/>
                    <a:p>
                      <a:r>
                        <a:rPr lang="en-US" dirty="0"/>
                        <a:t>30%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989767862"/>
                  </a:ext>
                </a:extLst>
              </a:tr>
            </a:tbl>
          </a:graphicData>
        </a:graphic>
      </p:graphicFrame>
      <p:graphicFrame>
        <p:nvGraphicFramePr>
          <p:cNvPr id="4" name="Table 3">
            <a:extLst>
              <a:ext uri="{FF2B5EF4-FFF2-40B4-BE49-F238E27FC236}">
                <a16:creationId xmlns:a16="http://schemas.microsoft.com/office/drawing/2014/main" id="{1C4A03D4-EAC4-DF86-2B53-852221FCFE87}"/>
              </a:ext>
            </a:extLst>
          </p:cNvPr>
          <p:cNvGraphicFramePr>
            <a:graphicFrameLocks noGrp="1"/>
          </p:cNvGraphicFramePr>
          <p:nvPr>
            <p:extLst>
              <p:ext uri="{D42A27DB-BD31-4B8C-83A1-F6EECF244321}">
                <p14:modId xmlns:p14="http://schemas.microsoft.com/office/powerpoint/2010/main" val="2350392220"/>
              </p:ext>
            </p:extLst>
          </p:nvPr>
        </p:nvGraphicFramePr>
        <p:xfrm>
          <a:off x="401955" y="4102194"/>
          <a:ext cx="9083040" cy="1280160"/>
        </p:xfrm>
        <a:graphic>
          <a:graphicData uri="http://schemas.openxmlformats.org/drawingml/2006/table">
            <a:tbl>
              <a:tblPr firstRow="1" bandRow="1">
                <a:tableStyleId>{5C22544A-7EE6-4342-B048-85BDC9FD1C3A}</a:tableStyleId>
              </a:tblPr>
              <a:tblGrid>
                <a:gridCol w="1816608">
                  <a:extLst>
                    <a:ext uri="{9D8B030D-6E8A-4147-A177-3AD203B41FA5}">
                      <a16:colId xmlns:a16="http://schemas.microsoft.com/office/drawing/2014/main" val="1448418484"/>
                    </a:ext>
                  </a:extLst>
                </a:gridCol>
                <a:gridCol w="1816608">
                  <a:extLst>
                    <a:ext uri="{9D8B030D-6E8A-4147-A177-3AD203B41FA5}">
                      <a16:colId xmlns:a16="http://schemas.microsoft.com/office/drawing/2014/main" val="2096090509"/>
                    </a:ext>
                  </a:extLst>
                </a:gridCol>
                <a:gridCol w="1816608">
                  <a:extLst>
                    <a:ext uri="{9D8B030D-6E8A-4147-A177-3AD203B41FA5}">
                      <a16:colId xmlns:a16="http://schemas.microsoft.com/office/drawing/2014/main" val="2177988646"/>
                    </a:ext>
                  </a:extLst>
                </a:gridCol>
                <a:gridCol w="1816608">
                  <a:extLst>
                    <a:ext uri="{9D8B030D-6E8A-4147-A177-3AD203B41FA5}">
                      <a16:colId xmlns:a16="http://schemas.microsoft.com/office/drawing/2014/main" val="1493648879"/>
                    </a:ext>
                  </a:extLst>
                </a:gridCol>
                <a:gridCol w="1816608">
                  <a:extLst>
                    <a:ext uri="{9D8B030D-6E8A-4147-A177-3AD203B41FA5}">
                      <a16:colId xmlns:a16="http://schemas.microsoft.com/office/drawing/2014/main" val="2351052020"/>
                    </a:ext>
                  </a:extLst>
                </a:gridCol>
              </a:tblGrid>
              <a:tr h="370840">
                <a:tc>
                  <a:txBody>
                    <a:bodyPr/>
                    <a:lstStyle/>
                    <a:p>
                      <a:r>
                        <a:rPr lang="en-US" dirty="0"/>
                        <a:t>RENEWAL DATE</a:t>
                      </a:r>
                      <a:endParaRPr lang="en-IN" dirty="0"/>
                    </a:p>
                  </a:txBody>
                  <a:tcPr/>
                </a:tc>
                <a:tc>
                  <a:txBody>
                    <a:bodyPr/>
                    <a:lstStyle/>
                    <a:p>
                      <a:r>
                        <a:rPr lang="en-US" dirty="0"/>
                        <a:t>PARTY B </a:t>
                      </a:r>
                    </a:p>
                    <a:p>
                      <a:r>
                        <a:rPr lang="en-US" dirty="0"/>
                        <a:t>NAME</a:t>
                      </a:r>
                      <a:endParaRPr lang="en-IN" dirty="0"/>
                    </a:p>
                  </a:txBody>
                  <a:tcPr/>
                </a:tc>
                <a:tc>
                  <a:txBody>
                    <a:bodyPr/>
                    <a:lstStyle/>
                    <a:p>
                      <a:r>
                        <a:rPr lang="en-US" dirty="0"/>
                        <a:t>PARTY B CONTACT</a:t>
                      </a:r>
                      <a:endParaRPr lang="en-IN" dirty="0"/>
                    </a:p>
                  </a:txBody>
                  <a:tcPr/>
                </a:tc>
                <a:tc>
                  <a:txBody>
                    <a:bodyPr/>
                    <a:lstStyle/>
                    <a:p>
                      <a:r>
                        <a:rPr lang="en-US" dirty="0"/>
                        <a:t>PARTY B EMAIL</a:t>
                      </a:r>
                      <a:endParaRPr lang="en-IN" dirty="0"/>
                    </a:p>
                  </a:txBody>
                  <a:tcPr/>
                </a:tc>
                <a:tc>
                  <a:txBody>
                    <a:bodyPr/>
                    <a:lstStyle/>
                    <a:p>
                      <a:r>
                        <a:rPr lang="en-US" dirty="0"/>
                        <a:t>PARTY B PHOTO</a:t>
                      </a:r>
                      <a:endParaRPr lang="en-IN" dirty="0"/>
                    </a:p>
                  </a:txBody>
                  <a:tcPr/>
                </a:tc>
                <a:extLst>
                  <a:ext uri="{0D108BD9-81ED-4DB2-BD59-A6C34878D82A}">
                    <a16:rowId xmlns:a16="http://schemas.microsoft.com/office/drawing/2014/main" val="2543053562"/>
                  </a:ext>
                </a:extLst>
              </a:tr>
              <a:tr h="0">
                <a:tc>
                  <a:txBody>
                    <a:bodyPr/>
                    <a:lstStyle/>
                    <a:p>
                      <a:r>
                        <a:rPr lang="en-US" dirty="0"/>
                        <a:t>20/09/2024</a:t>
                      </a:r>
                      <a:endParaRPr lang="en-IN" dirty="0"/>
                    </a:p>
                  </a:txBody>
                  <a:tcPr/>
                </a:tc>
                <a:tc>
                  <a:txBody>
                    <a:bodyPr/>
                    <a:lstStyle/>
                    <a:p>
                      <a:r>
                        <a:rPr lang="en-US" dirty="0"/>
                        <a:t>XYZ</a:t>
                      </a:r>
                      <a:endParaRPr lang="en-IN" dirty="0"/>
                    </a:p>
                  </a:txBody>
                  <a:tcPr/>
                </a:tc>
                <a:tc>
                  <a:txBody>
                    <a:bodyPr/>
                    <a:lstStyle/>
                    <a:p>
                      <a:r>
                        <a:rPr lang="en-US" dirty="0"/>
                        <a:t>9451532588</a:t>
                      </a:r>
                      <a:endParaRPr lang="en-IN" dirty="0"/>
                    </a:p>
                  </a:txBody>
                  <a:tcPr/>
                </a:tc>
                <a:tc>
                  <a:txBody>
                    <a:bodyPr/>
                    <a:lstStyle/>
                    <a:p>
                      <a:r>
                        <a:rPr lang="en-US" dirty="0">
                          <a:solidFill>
                            <a:schemeClr val="tx1"/>
                          </a:solidFill>
                          <a:hlinkClick r:id="rId2">
                            <a:extLst>
                              <a:ext uri="{A12FA001-AC4F-418D-AE19-62706E023703}">
                                <ahyp:hlinkClr xmlns:ahyp="http://schemas.microsoft.com/office/drawing/2018/hyperlinkcolor" val="tx"/>
                              </a:ext>
                            </a:extLst>
                          </a:hlinkClick>
                        </a:rPr>
                        <a:t>XYZ@GMAIL.COM</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96158155"/>
                  </a:ext>
                </a:extLst>
              </a:tr>
            </a:tbl>
          </a:graphicData>
        </a:graphic>
      </p:graphicFrame>
    </p:spTree>
    <p:extLst>
      <p:ext uri="{BB962C8B-B14F-4D97-AF65-F5344CB8AC3E}">
        <p14:creationId xmlns:p14="http://schemas.microsoft.com/office/powerpoint/2010/main" val="847426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03A044-BFA2-BBDF-CDE5-423D6CA79DBC}"/>
              </a:ext>
            </a:extLst>
          </p:cNvPr>
          <p:cNvSpPr txBox="1"/>
          <p:nvPr/>
        </p:nvSpPr>
        <p:spPr>
          <a:xfrm>
            <a:off x="274320" y="526440"/>
            <a:ext cx="2667000" cy="369332"/>
          </a:xfrm>
          <a:prstGeom prst="rect">
            <a:avLst/>
          </a:prstGeom>
          <a:noFill/>
        </p:spPr>
        <p:txBody>
          <a:bodyPr wrap="square" rtlCol="0">
            <a:spAutoFit/>
          </a:bodyPr>
          <a:lstStyle/>
          <a:p>
            <a:r>
              <a:rPr lang="en-US" b="1" dirty="0"/>
              <a:t>FACULTY DETAILS</a:t>
            </a:r>
            <a:endParaRPr lang="en-IN" b="1" dirty="0"/>
          </a:p>
        </p:txBody>
      </p:sp>
      <p:graphicFrame>
        <p:nvGraphicFramePr>
          <p:cNvPr id="3" name="Table 2">
            <a:extLst>
              <a:ext uri="{FF2B5EF4-FFF2-40B4-BE49-F238E27FC236}">
                <a16:creationId xmlns:a16="http://schemas.microsoft.com/office/drawing/2014/main" id="{CD7F7E1B-8B7B-07DD-E94A-9ED121C0449D}"/>
              </a:ext>
            </a:extLst>
          </p:cNvPr>
          <p:cNvGraphicFramePr>
            <a:graphicFrameLocks noGrp="1"/>
          </p:cNvGraphicFramePr>
          <p:nvPr>
            <p:extLst>
              <p:ext uri="{D42A27DB-BD31-4B8C-83A1-F6EECF244321}">
                <p14:modId xmlns:p14="http://schemas.microsoft.com/office/powerpoint/2010/main" val="1563355768"/>
              </p:ext>
            </p:extLst>
          </p:nvPr>
        </p:nvGraphicFramePr>
        <p:xfrm>
          <a:off x="274320" y="1050220"/>
          <a:ext cx="10774681" cy="1280160"/>
        </p:xfrm>
        <a:graphic>
          <a:graphicData uri="http://schemas.openxmlformats.org/drawingml/2006/table">
            <a:tbl>
              <a:tblPr firstRow="1" bandRow="1">
                <a:tableStyleId>{5C22544A-7EE6-4342-B048-85BDC9FD1C3A}</a:tableStyleId>
              </a:tblPr>
              <a:tblGrid>
                <a:gridCol w="685842">
                  <a:extLst>
                    <a:ext uri="{9D8B030D-6E8A-4147-A177-3AD203B41FA5}">
                      <a16:colId xmlns:a16="http://schemas.microsoft.com/office/drawing/2014/main" val="1781804170"/>
                    </a:ext>
                  </a:extLst>
                </a:gridCol>
                <a:gridCol w="879667">
                  <a:extLst>
                    <a:ext uri="{9D8B030D-6E8A-4147-A177-3AD203B41FA5}">
                      <a16:colId xmlns:a16="http://schemas.microsoft.com/office/drawing/2014/main" val="2118784749"/>
                    </a:ext>
                  </a:extLst>
                </a:gridCol>
                <a:gridCol w="1058582">
                  <a:extLst>
                    <a:ext uri="{9D8B030D-6E8A-4147-A177-3AD203B41FA5}">
                      <a16:colId xmlns:a16="http://schemas.microsoft.com/office/drawing/2014/main" val="863111322"/>
                    </a:ext>
                  </a:extLst>
                </a:gridCol>
                <a:gridCol w="1550599">
                  <a:extLst>
                    <a:ext uri="{9D8B030D-6E8A-4147-A177-3AD203B41FA5}">
                      <a16:colId xmlns:a16="http://schemas.microsoft.com/office/drawing/2014/main" val="3739196395"/>
                    </a:ext>
                  </a:extLst>
                </a:gridCol>
                <a:gridCol w="867247">
                  <a:extLst>
                    <a:ext uri="{9D8B030D-6E8A-4147-A177-3AD203B41FA5}">
                      <a16:colId xmlns:a16="http://schemas.microsoft.com/office/drawing/2014/main" val="971399188"/>
                    </a:ext>
                  </a:extLst>
                </a:gridCol>
                <a:gridCol w="2273711">
                  <a:extLst>
                    <a:ext uri="{9D8B030D-6E8A-4147-A177-3AD203B41FA5}">
                      <a16:colId xmlns:a16="http://schemas.microsoft.com/office/drawing/2014/main" val="3613787323"/>
                    </a:ext>
                  </a:extLst>
                </a:gridCol>
                <a:gridCol w="1153011">
                  <a:extLst>
                    <a:ext uri="{9D8B030D-6E8A-4147-A177-3AD203B41FA5}">
                      <a16:colId xmlns:a16="http://schemas.microsoft.com/office/drawing/2014/main" val="4095605483"/>
                    </a:ext>
                  </a:extLst>
                </a:gridCol>
                <a:gridCol w="1153011">
                  <a:extLst>
                    <a:ext uri="{9D8B030D-6E8A-4147-A177-3AD203B41FA5}">
                      <a16:colId xmlns:a16="http://schemas.microsoft.com/office/drawing/2014/main" val="1267596604"/>
                    </a:ext>
                  </a:extLst>
                </a:gridCol>
                <a:gridCol w="1153011">
                  <a:extLst>
                    <a:ext uri="{9D8B030D-6E8A-4147-A177-3AD203B41FA5}">
                      <a16:colId xmlns:a16="http://schemas.microsoft.com/office/drawing/2014/main" val="333689900"/>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GENDER</a:t>
                      </a:r>
                      <a:endParaRPr lang="en-IN" dirty="0"/>
                    </a:p>
                  </a:txBody>
                  <a:tcPr/>
                </a:tc>
                <a:tc>
                  <a:txBody>
                    <a:bodyPr/>
                    <a:lstStyle/>
                    <a:p>
                      <a:r>
                        <a:rPr lang="en-US" dirty="0"/>
                        <a:t>CONTACT NO</a:t>
                      </a:r>
                      <a:endParaRPr lang="en-IN" dirty="0"/>
                    </a:p>
                  </a:txBody>
                  <a:tcPr/>
                </a:tc>
                <a:tc>
                  <a:txBody>
                    <a:bodyPr/>
                    <a:lstStyle/>
                    <a:p>
                      <a:r>
                        <a:rPr lang="en-US" dirty="0"/>
                        <a:t>DOB</a:t>
                      </a:r>
                      <a:endParaRPr lang="en-IN" dirty="0"/>
                    </a:p>
                  </a:txBody>
                  <a:tcPr/>
                </a:tc>
                <a:tc>
                  <a:txBody>
                    <a:bodyPr/>
                    <a:lstStyle/>
                    <a:p>
                      <a:r>
                        <a:rPr lang="en-US" dirty="0"/>
                        <a:t>EXPERIENCE YEAR</a:t>
                      </a:r>
                      <a:endParaRPr lang="en-IN" dirty="0"/>
                    </a:p>
                  </a:txBody>
                  <a:tcPr/>
                </a:tc>
                <a:tc>
                  <a:txBody>
                    <a:bodyPr/>
                    <a:lstStyle/>
                    <a:p>
                      <a:r>
                        <a:rPr lang="en-US" dirty="0"/>
                        <a:t>SKILLS 1</a:t>
                      </a:r>
                      <a:endParaRPr lang="en-IN" dirty="0"/>
                    </a:p>
                  </a:txBody>
                  <a:tcPr/>
                </a:tc>
                <a:tc>
                  <a:txBody>
                    <a:bodyPr/>
                    <a:lstStyle/>
                    <a:p>
                      <a:r>
                        <a:rPr lang="en-US" dirty="0"/>
                        <a:t>SKILLS 2</a:t>
                      </a:r>
                      <a:endParaRPr lang="en-IN" dirty="0"/>
                    </a:p>
                  </a:txBody>
                  <a:tcPr/>
                </a:tc>
                <a:tc>
                  <a:txBody>
                    <a:bodyPr/>
                    <a:lstStyle/>
                    <a:p>
                      <a:r>
                        <a:rPr lang="en-US" dirty="0"/>
                        <a:t>SKILLS 3</a:t>
                      </a:r>
                      <a:endParaRPr lang="en-IN" dirty="0"/>
                    </a:p>
                  </a:txBody>
                  <a:tcPr/>
                </a:tc>
                <a:extLst>
                  <a:ext uri="{0D108BD9-81ED-4DB2-BD59-A6C34878D82A}">
                    <a16:rowId xmlns:a16="http://schemas.microsoft.com/office/drawing/2014/main" val="2895234362"/>
                  </a:ext>
                </a:extLst>
              </a:tr>
              <a:tr h="370840">
                <a:tc>
                  <a:txBody>
                    <a:bodyPr/>
                    <a:lstStyle/>
                    <a:p>
                      <a:r>
                        <a:rPr lang="en-US" dirty="0"/>
                        <a:t>101</a:t>
                      </a:r>
                      <a:endParaRPr lang="en-IN" dirty="0"/>
                    </a:p>
                  </a:txBody>
                  <a:tcPr/>
                </a:tc>
                <a:tc>
                  <a:txBody>
                    <a:bodyPr/>
                    <a:lstStyle/>
                    <a:p>
                      <a:r>
                        <a:rPr lang="en-US" dirty="0"/>
                        <a:t>XYZ</a:t>
                      </a:r>
                      <a:endParaRPr lang="en-IN" dirty="0"/>
                    </a:p>
                  </a:txBody>
                  <a:tcPr/>
                </a:tc>
                <a:tc>
                  <a:txBody>
                    <a:bodyPr/>
                    <a:lstStyle/>
                    <a:p>
                      <a:r>
                        <a:rPr lang="en-US" dirty="0"/>
                        <a:t>FEMALE</a:t>
                      </a:r>
                      <a:endParaRPr lang="en-IN" dirty="0"/>
                    </a:p>
                  </a:txBody>
                  <a:tcPr/>
                </a:tc>
                <a:tc>
                  <a:txBody>
                    <a:bodyPr/>
                    <a:lstStyle/>
                    <a:p>
                      <a:r>
                        <a:rPr lang="en-US" dirty="0"/>
                        <a:t>9421058865</a:t>
                      </a:r>
                      <a:endParaRPr lang="en-IN" dirty="0"/>
                    </a:p>
                  </a:txBody>
                  <a:tcPr/>
                </a:tc>
                <a:tc>
                  <a:txBody>
                    <a:bodyPr/>
                    <a:lstStyle/>
                    <a:p>
                      <a:r>
                        <a:rPr lang="en-US" dirty="0"/>
                        <a:t>04/12/2004</a:t>
                      </a:r>
                      <a:endParaRPr lang="en-IN" dirty="0"/>
                    </a:p>
                  </a:txBody>
                  <a:tcPr/>
                </a:tc>
                <a:tc>
                  <a:txBody>
                    <a:bodyPr/>
                    <a:lstStyle/>
                    <a:p>
                      <a:r>
                        <a:rPr lang="en-US" dirty="0"/>
                        <a:t>2 YEARS</a:t>
                      </a:r>
                      <a:endParaRPr lang="en-IN" dirty="0"/>
                    </a:p>
                  </a:txBody>
                  <a:tcPr/>
                </a:tc>
                <a:tc>
                  <a:txBody>
                    <a:bodyPr/>
                    <a:lstStyle/>
                    <a:p>
                      <a:r>
                        <a:rPr lang="en-US" dirty="0"/>
                        <a:t>JAVA</a:t>
                      </a:r>
                      <a:endParaRPr lang="en-IN" dirty="0"/>
                    </a:p>
                  </a:txBody>
                  <a:tcPr/>
                </a:tc>
                <a:tc>
                  <a:txBody>
                    <a:bodyPr/>
                    <a:lstStyle/>
                    <a:p>
                      <a:r>
                        <a:rPr lang="en-US" dirty="0"/>
                        <a:t>PYTHON</a:t>
                      </a:r>
                      <a:endParaRPr lang="en-IN" dirty="0"/>
                    </a:p>
                  </a:txBody>
                  <a:tcPr/>
                </a:tc>
                <a:tc>
                  <a:txBody>
                    <a:bodyPr/>
                    <a:lstStyle/>
                    <a:p>
                      <a:r>
                        <a:rPr lang="en-US" dirty="0"/>
                        <a:t>HTML</a:t>
                      </a:r>
                      <a:endParaRPr lang="en-IN" dirty="0"/>
                    </a:p>
                  </a:txBody>
                  <a:tcPr/>
                </a:tc>
                <a:extLst>
                  <a:ext uri="{0D108BD9-81ED-4DB2-BD59-A6C34878D82A}">
                    <a16:rowId xmlns:a16="http://schemas.microsoft.com/office/drawing/2014/main" val="1575975857"/>
                  </a:ext>
                </a:extLst>
              </a:tr>
            </a:tbl>
          </a:graphicData>
        </a:graphic>
      </p:graphicFrame>
      <p:graphicFrame>
        <p:nvGraphicFramePr>
          <p:cNvPr id="4" name="Table 3">
            <a:extLst>
              <a:ext uri="{FF2B5EF4-FFF2-40B4-BE49-F238E27FC236}">
                <a16:creationId xmlns:a16="http://schemas.microsoft.com/office/drawing/2014/main" id="{8DBACE8E-2305-C3F2-4A2E-B81DD6C0CACE}"/>
              </a:ext>
            </a:extLst>
          </p:cNvPr>
          <p:cNvGraphicFramePr>
            <a:graphicFrameLocks noGrp="1"/>
          </p:cNvGraphicFramePr>
          <p:nvPr>
            <p:extLst>
              <p:ext uri="{D42A27DB-BD31-4B8C-83A1-F6EECF244321}">
                <p14:modId xmlns:p14="http://schemas.microsoft.com/office/powerpoint/2010/main" val="368417618"/>
              </p:ext>
            </p:extLst>
          </p:nvPr>
        </p:nvGraphicFramePr>
        <p:xfrm>
          <a:off x="274320" y="2637806"/>
          <a:ext cx="9861213" cy="1010920"/>
        </p:xfrm>
        <a:graphic>
          <a:graphicData uri="http://schemas.openxmlformats.org/drawingml/2006/table">
            <a:tbl>
              <a:tblPr firstRow="1" bandRow="1">
                <a:tableStyleId>{5C22544A-7EE6-4342-B048-85BDC9FD1C3A}</a:tableStyleId>
              </a:tblPr>
              <a:tblGrid>
                <a:gridCol w="1795780">
                  <a:extLst>
                    <a:ext uri="{9D8B030D-6E8A-4147-A177-3AD203B41FA5}">
                      <a16:colId xmlns:a16="http://schemas.microsoft.com/office/drawing/2014/main" val="3124301384"/>
                    </a:ext>
                  </a:extLst>
                </a:gridCol>
                <a:gridCol w="1711286">
                  <a:extLst>
                    <a:ext uri="{9D8B030D-6E8A-4147-A177-3AD203B41FA5}">
                      <a16:colId xmlns:a16="http://schemas.microsoft.com/office/drawing/2014/main" val="2177453887"/>
                    </a:ext>
                  </a:extLst>
                </a:gridCol>
                <a:gridCol w="1791478">
                  <a:extLst>
                    <a:ext uri="{9D8B030D-6E8A-4147-A177-3AD203B41FA5}">
                      <a16:colId xmlns:a16="http://schemas.microsoft.com/office/drawing/2014/main" val="1762809217"/>
                    </a:ext>
                  </a:extLst>
                </a:gridCol>
                <a:gridCol w="1259633">
                  <a:extLst>
                    <a:ext uri="{9D8B030D-6E8A-4147-A177-3AD203B41FA5}">
                      <a16:colId xmlns:a16="http://schemas.microsoft.com/office/drawing/2014/main" val="1125582279"/>
                    </a:ext>
                  </a:extLst>
                </a:gridCol>
                <a:gridCol w="1474236">
                  <a:extLst>
                    <a:ext uri="{9D8B030D-6E8A-4147-A177-3AD203B41FA5}">
                      <a16:colId xmlns:a16="http://schemas.microsoft.com/office/drawing/2014/main" val="1513036879"/>
                    </a:ext>
                  </a:extLst>
                </a:gridCol>
                <a:gridCol w="1828800">
                  <a:extLst>
                    <a:ext uri="{9D8B030D-6E8A-4147-A177-3AD203B41FA5}">
                      <a16:colId xmlns:a16="http://schemas.microsoft.com/office/drawing/2014/main" val="1579479423"/>
                    </a:ext>
                  </a:extLst>
                </a:gridCol>
              </a:tblGrid>
              <a:tr h="370840">
                <a:tc>
                  <a:txBody>
                    <a:bodyPr/>
                    <a:lstStyle/>
                    <a:p>
                      <a:r>
                        <a:rPr lang="en-US" dirty="0"/>
                        <a:t>ACHIEVEMENT 1</a:t>
                      </a:r>
                      <a:endParaRPr lang="en-IN" dirty="0"/>
                    </a:p>
                  </a:txBody>
                  <a:tcPr/>
                </a:tc>
                <a:tc>
                  <a:txBody>
                    <a:bodyPr/>
                    <a:lstStyle/>
                    <a:p>
                      <a:r>
                        <a:rPr lang="en-US" dirty="0"/>
                        <a:t>ACHIEVEMENT 2</a:t>
                      </a:r>
                      <a:endParaRPr lang="en-IN" dirty="0"/>
                    </a:p>
                  </a:txBody>
                  <a:tcPr/>
                </a:tc>
                <a:tc>
                  <a:txBody>
                    <a:bodyPr/>
                    <a:lstStyle/>
                    <a:p>
                      <a:r>
                        <a:rPr lang="en-US" dirty="0"/>
                        <a:t>ACHIEVEMENT 3</a:t>
                      </a:r>
                      <a:endParaRPr lang="en-IN" dirty="0"/>
                    </a:p>
                  </a:txBody>
                  <a:tcPr/>
                </a:tc>
                <a:tc>
                  <a:txBody>
                    <a:bodyPr/>
                    <a:lstStyle/>
                    <a:p>
                      <a:r>
                        <a:rPr lang="en-US" dirty="0"/>
                        <a:t>MAXIMUM STUDENT</a:t>
                      </a:r>
                      <a:endParaRPr lang="en-IN" dirty="0"/>
                    </a:p>
                  </a:txBody>
                  <a:tcPr/>
                </a:tc>
                <a:tc>
                  <a:txBody>
                    <a:bodyPr/>
                    <a:lstStyle/>
                    <a:p>
                      <a:r>
                        <a:rPr lang="en-US" dirty="0"/>
                        <a:t>EDUCATION</a:t>
                      </a:r>
                      <a:endParaRPr lang="en-IN" dirty="0"/>
                    </a:p>
                  </a:txBody>
                  <a:tcPr/>
                </a:tc>
                <a:tc>
                  <a:txBody>
                    <a:bodyPr/>
                    <a:lstStyle/>
                    <a:p>
                      <a:r>
                        <a:rPr lang="en-US" dirty="0"/>
                        <a:t>QUALIFICATION</a:t>
                      </a:r>
                      <a:endParaRPr lang="en-IN" dirty="0"/>
                    </a:p>
                  </a:txBody>
                  <a:tcPr/>
                </a:tc>
                <a:extLst>
                  <a:ext uri="{0D108BD9-81ED-4DB2-BD59-A6C34878D82A}">
                    <a16:rowId xmlns:a16="http://schemas.microsoft.com/office/drawing/2014/main" val="2608163782"/>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US" dirty="0"/>
                        <a:t>20</a:t>
                      </a:r>
                      <a:endParaRPr lang="en-IN" dirty="0"/>
                    </a:p>
                  </a:txBody>
                  <a:tcPr/>
                </a:tc>
                <a:tc>
                  <a:txBody>
                    <a:bodyPr/>
                    <a:lstStyle/>
                    <a:p>
                      <a:r>
                        <a:rPr lang="en-US" dirty="0"/>
                        <a:t>BE</a:t>
                      </a:r>
                      <a:endParaRPr lang="en-IN" dirty="0"/>
                    </a:p>
                  </a:txBody>
                  <a:tcPr/>
                </a:tc>
                <a:tc>
                  <a:txBody>
                    <a:bodyPr/>
                    <a:lstStyle/>
                    <a:p>
                      <a:endParaRPr lang="en-IN" dirty="0"/>
                    </a:p>
                  </a:txBody>
                  <a:tcPr/>
                </a:tc>
                <a:extLst>
                  <a:ext uri="{0D108BD9-81ED-4DB2-BD59-A6C34878D82A}">
                    <a16:rowId xmlns:a16="http://schemas.microsoft.com/office/drawing/2014/main" val="417255851"/>
                  </a:ext>
                </a:extLst>
              </a:tr>
            </a:tbl>
          </a:graphicData>
        </a:graphic>
      </p:graphicFrame>
      <p:graphicFrame>
        <p:nvGraphicFramePr>
          <p:cNvPr id="5" name="Table 4">
            <a:extLst>
              <a:ext uri="{FF2B5EF4-FFF2-40B4-BE49-F238E27FC236}">
                <a16:creationId xmlns:a16="http://schemas.microsoft.com/office/drawing/2014/main" id="{738773CE-C2CB-F20A-FA91-F04EE93727FB}"/>
              </a:ext>
            </a:extLst>
          </p:cNvPr>
          <p:cNvGraphicFramePr>
            <a:graphicFrameLocks noGrp="1"/>
          </p:cNvGraphicFramePr>
          <p:nvPr>
            <p:extLst>
              <p:ext uri="{D42A27DB-BD31-4B8C-83A1-F6EECF244321}">
                <p14:modId xmlns:p14="http://schemas.microsoft.com/office/powerpoint/2010/main" val="730553750"/>
              </p:ext>
            </p:extLst>
          </p:nvPr>
        </p:nvGraphicFramePr>
        <p:xfrm>
          <a:off x="274320" y="4796860"/>
          <a:ext cx="11031119" cy="1010920"/>
        </p:xfrm>
        <a:graphic>
          <a:graphicData uri="http://schemas.openxmlformats.org/drawingml/2006/table">
            <a:tbl>
              <a:tblPr firstRow="1" bandRow="1">
                <a:tableStyleId>{5C22544A-7EE6-4342-B048-85BDC9FD1C3A}</a:tableStyleId>
              </a:tblPr>
              <a:tblGrid>
                <a:gridCol w="1267863">
                  <a:extLst>
                    <a:ext uri="{9D8B030D-6E8A-4147-A177-3AD203B41FA5}">
                      <a16:colId xmlns:a16="http://schemas.microsoft.com/office/drawing/2014/main" val="1362608109"/>
                    </a:ext>
                  </a:extLst>
                </a:gridCol>
                <a:gridCol w="1267863">
                  <a:extLst>
                    <a:ext uri="{9D8B030D-6E8A-4147-A177-3AD203B41FA5}">
                      <a16:colId xmlns:a16="http://schemas.microsoft.com/office/drawing/2014/main" val="735091864"/>
                    </a:ext>
                  </a:extLst>
                </a:gridCol>
                <a:gridCol w="1267863">
                  <a:extLst>
                    <a:ext uri="{9D8B030D-6E8A-4147-A177-3AD203B41FA5}">
                      <a16:colId xmlns:a16="http://schemas.microsoft.com/office/drawing/2014/main" val="188541233"/>
                    </a:ext>
                  </a:extLst>
                </a:gridCol>
                <a:gridCol w="1267863">
                  <a:extLst>
                    <a:ext uri="{9D8B030D-6E8A-4147-A177-3AD203B41FA5}">
                      <a16:colId xmlns:a16="http://schemas.microsoft.com/office/drawing/2014/main" val="2730865236"/>
                    </a:ext>
                  </a:extLst>
                </a:gridCol>
                <a:gridCol w="1153541">
                  <a:extLst>
                    <a:ext uri="{9D8B030D-6E8A-4147-A177-3AD203B41FA5}">
                      <a16:colId xmlns:a16="http://schemas.microsoft.com/office/drawing/2014/main" val="2937116375"/>
                    </a:ext>
                  </a:extLst>
                </a:gridCol>
                <a:gridCol w="1382184">
                  <a:extLst>
                    <a:ext uri="{9D8B030D-6E8A-4147-A177-3AD203B41FA5}">
                      <a16:colId xmlns:a16="http://schemas.microsoft.com/office/drawing/2014/main" val="2015878980"/>
                    </a:ext>
                  </a:extLst>
                </a:gridCol>
                <a:gridCol w="1711971">
                  <a:extLst>
                    <a:ext uri="{9D8B030D-6E8A-4147-A177-3AD203B41FA5}">
                      <a16:colId xmlns:a16="http://schemas.microsoft.com/office/drawing/2014/main" val="107706304"/>
                    </a:ext>
                  </a:extLst>
                </a:gridCol>
                <a:gridCol w="1711971">
                  <a:extLst>
                    <a:ext uri="{9D8B030D-6E8A-4147-A177-3AD203B41FA5}">
                      <a16:colId xmlns:a16="http://schemas.microsoft.com/office/drawing/2014/main" val="2665137256"/>
                    </a:ext>
                  </a:extLst>
                </a:gridCol>
              </a:tblGrid>
              <a:tr h="331046">
                <a:tc>
                  <a:txBody>
                    <a:bodyPr/>
                    <a:lstStyle/>
                    <a:p>
                      <a:r>
                        <a:rPr lang="en-US" dirty="0"/>
                        <a:t>FACULTY ID</a:t>
                      </a:r>
                      <a:endParaRPr lang="en-IN" dirty="0"/>
                    </a:p>
                  </a:txBody>
                  <a:tcPr/>
                </a:tc>
                <a:tc>
                  <a:txBody>
                    <a:bodyPr/>
                    <a:lstStyle/>
                    <a:p>
                      <a:r>
                        <a:rPr lang="en-US" dirty="0"/>
                        <a:t>PAYMENT ID</a:t>
                      </a:r>
                      <a:endParaRPr lang="en-IN" dirty="0"/>
                    </a:p>
                  </a:txBody>
                  <a:tcPr/>
                </a:tc>
                <a:tc>
                  <a:txBody>
                    <a:bodyPr/>
                    <a:lstStyle/>
                    <a:p>
                      <a:r>
                        <a:rPr lang="en-US" dirty="0"/>
                        <a:t>WORKING DAYS</a:t>
                      </a:r>
                      <a:endParaRPr lang="en-IN" dirty="0"/>
                    </a:p>
                  </a:txBody>
                  <a:tcPr/>
                </a:tc>
                <a:tc>
                  <a:txBody>
                    <a:bodyPr/>
                    <a:lstStyle/>
                    <a:p>
                      <a:r>
                        <a:rPr lang="en-US" dirty="0"/>
                        <a:t>LEAVE  ALLOWED</a:t>
                      </a:r>
                      <a:endParaRPr lang="en-IN" dirty="0"/>
                    </a:p>
                  </a:txBody>
                  <a:tcPr/>
                </a:tc>
                <a:tc>
                  <a:txBody>
                    <a:bodyPr/>
                    <a:lstStyle/>
                    <a:p>
                      <a:r>
                        <a:rPr lang="en-US" dirty="0"/>
                        <a:t>ABSENT DAY</a:t>
                      </a:r>
                      <a:endParaRPr lang="en-IN" dirty="0"/>
                    </a:p>
                  </a:txBody>
                  <a:tcPr/>
                </a:tc>
                <a:tc>
                  <a:txBody>
                    <a:bodyPr/>
                    <a:lstStyle/>
                    <a:p>
                      <a:r>
                        <a:rPr lang="en-US" dirty="0"/>
                        <a:t>PAYMEMNT CUTTED</a:t>
                      </a:r>
                      <a:endParaRPr lang="en-IN" dirty="0"/>
                    </a:p>
                  </a:txBody>
                  <a:tcPr/>
                </a:tc>
                <a:tc>
                  <a:txBody>
                    <a:bodyPr/>
                    <a:lstStyle/>
                    <a:p>
                      <a:r>
                        <a:rPr lang="en-US" dirty="0"/>
                        <a:t>ATTENDANCE</a:t>
                      </a:r>
                      <a:endParaRPr lang="en-IN" dirty="0"/>
                    </a:p>
                  </a:txBody>
                  <a:tcPr/>
                </a:tc>
                <a:tc>
                  <a:txBody>
                    <a:bodyPr/>
                    <a:lstStyle/>
                    <a:p>
                      <a:r>
                        <a:rPr lang="en-IN" dirty="0"/>
                        <a:t>TOTAL PAYMENT</a:t>
                      </a:r>
                    </a:p>
                  </a:txBody>
                  <a:tcPr/>
                </a:tc>
                <a:extLst>
                  <a:ext uri="{0D108BD9-81ED-4DB2-BD59-A6C34878D82A}">
                    <a16:rowId xmlns:a16="http://schemas.microsoft.com/office/drawing/2014/main" val="2658346773"/>
                  </a:ext>
                </a:extLst>
              </a:tr>
              <a:tr h="370840">
                <a:tc>
                  <a:txBody>
                    <a:bodyPr/>
                    <a:lstStyle/>
                    <a:p>
                      <a:r>
                        <a:rPr lang="en-US" dirty="0"/>
                        <a:t>101</a:t>
                      </a:r>
                      <a:endParaRPr lang="en-IN" dirty="0"/>
                    </a:p>
                  </a:txBody>
                  <a:tcPr/>
                </a:tc>
                <a:tc>
                  <a:txBody>
                    <a:bodyPr/>
                    <a:lstStyle/>
                    <a:p>
                      <a:r>
                        <a:rPr lang="en-US" dirty="0"/>
                        <a:t>10</a:t>
                      </a:r>
                      <a:endParaRPr lang="en-IN" dirty="0"/>
                    </a:p>
                  </a:txBody>
                  <a:tcPr/>
                </a:tc>
                <a:tc>
                  <a:txBody>
                    <a:bodyPr/>
                    <a:lstStyle/>
                    <a:p>
                      <a:r>
                        <a:rPr lang="en-US" dirty="0"/>
                        <a:t>22</a:t>
                      </a:r>
                      <a:endParaRPr lang="en-IN" dirty="0"/>
                    </a:p>
                  </a:txBody>
                  <a:tcPr/>
                </a:tc>
                <a:tc>
                  <a:txBody>
                    <a:bodyPr/>
                    <a:lstStyle/>
                    <a:p>
                      <a:r>
                        <a:rPr lang="en-IN" dirty="0"/>
                        <a:t>15</a:t>
                      </a:r>
                    </a:p>
                  </a:txBody>
                  <a:tcPr/>
                </a:tc>
                <a:tc>
                  <a:txBody>
                    <a:bodyPr/>
                    <a:lstStyle/>
                    <a:p>
                      <a:r>
                        <a:rPr lang="en-US" dirty="0"/>
                        <a:t>4</a:t>
                      </a:r>
                      <a:endParaRPr lang="en-IN" dirty="0"/>
                    </a:p>
                  </a:txBody>
                  <a:tcPr/>
                </a:tc>
                <a:tc>
                  <a:txBody>
                    <a:bodyPr/>
                    <a:lstStyle/>
                    <a:p>
                      <a:r>
                        <a:rPr lang="en-US" dirty="0"/>
                        <a:t>0</a:t>
                      </a:r>
                      <a:endParaRPr lang="en-IN" dirty="0"/>
                    </a:p>
                  </a:txBody>
                  <a:tcPr/>
                </a:tc>
                <a:tc>
                  <a:txBody>
                    <a:bodyPr/>
                    <a:lstStyle/>
                    <a:p>
                      <a:r>
                        <a:rPr lang="en-US" dirty="0"/>
                        <a:t>85%</a:t>
                      </a:r>
                      <a:endParaRPr lang="en-IN" dirty="0"/>
                    </a:p>
                  </a:txBody>
                  <a:tcPr/>
                </a:tc>
                <a:tc>
                  <a:txBody>
                    <a:bodyPr/>
                    <a:lstStyle/>
                    <a:p>
                      <a:endParaRPr lang="en-IN" dirty="0"/>
                    </a:p>
                  </a:txBody>
                  <a:tcPr/>
                </a:tc>
                <a:extLst>
                  <a:ext uri="{0D108BD9-81ED-4DB2-BD59-A6C34878D82A}">
                    <a16:rowId xmlns:a16="http://schemas.microsoft.com/office/drawing/2014/main" val="775765336"/>
                  </a:ext>
                </a:extLst>
              </a:tr>
            </a:tbl>
          </a:graphicData>
        </a:graphic>
      </p:graphicFrame>
      <p:sp>
        <p:nvSpPr>
          <p:cNvPr id="6" name="TextBox 5">
            <a:extLst>
              <a:ext uri="{FF2B5EF4-FFF2-40B4-BE49-F238E27FC236}">
                <a16:creationId xmlns:a16="http://schemas.microsoft.com/office/drawing/2014/main" id="{3D4DA23F-9114-8586-1B5D-391E2096C4C9}"/>
              </a:ext>
            </a:extLst>
          </p:cNvPr>
          <p:cNvSpPr txBox="1"/>
          <p:nvPr/>
        </p:nvSpPr>
        <p:spPr>
          <a:xfrm>
            <a:off x="190345" y="4198775"/>
            <a:ext cx="2394235" cy="369332"/>
          </a:xfrm>
          <a:prstGeom prst="rect">
            <a:avLst/>
          </a:prstGeom>
          <a:noFill/>
        </p:spPr>
        <p:txBody>
          <a:bodyPr wrap="square" rtlCol="0">
            <a:spAutoFit/>
          </a:bodyPr>
          <a:lstStyle/>
          <a:p>
            <a:r>
              <a:rPr lang="en-US" b="1" dirty="0"/>
              <a:t>FACULTY PAYMENTS </a:t>
            </a:r>
            <a:endParaRPr lang="en-IN" b="1" dirty="0"/>
          </a:p>
        </p:txBody>
      </p:sp>
    </p:spTree>
    <p:extLst>
      <p:ext uri="{BB962C8B-B14F-4D97-AF65-F5344CB8AC3E}">
        <p14:creationId xmlns:p14="http://schemas.microsoft.com/office/powerpoint/2010/main" val="3591156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E050C82-C1B9-7672-AEB1-81D719F8D455}"/>
              </a:ext>
            </a:extLst>
          </p:cNvPr>
          <p:cNvGraphicFramePr>
            <a:graphicFrameLocks noGrp="1"/>
          </p:cNvGraphicFramePr>
          <p:nvPr>
            <p:extLst>
              <p:ext uri="{D42A27DB-BD31-4B8C-83A1-F6EECF244321}">
                <p14:modId xmlns:p14="http://schemas.microsoft.com/office/powerpoint/2010/main" val="3459481732"/>
              </p:ext>
            </p:extLst>
          </p:nvPr>
        </p:nvGraphicFramePr>
        <p:xfrm>
          <a:off x="370840" y="1131146"/>
          <a:ext cx="10754360" cy="1828800"/>
        </p:xfrm>
        <a:graphic>
          <a:graphicData uri="http://schemas.openxmlformats.org/drawingml/2006/table">
            <a:tbl>
              <a:tblPr firstRow="1" bandRow="1">
                <a:tableStyleId>{5C22544A-7EE6-4342-B048-85BDC9FD1C3A}</a:tableStyleId>
              </a:tblPr>
              <a:tblGrid>
                <a:gridCol w="805843">
                  <a:extLst>
                    <a:ext uri="{9D8B030D-6E8A-4147-A177-3AD203B41FA5}">
                      <a16:colId xmlns:a16="http://schemas.microsoft.com/office/drawing/2014/main" val="2071719737"/>
                    </a:ext>
                  </a:extLst>
                </a:gridCol>
                <a:gridCol w="1240575">
                  <a:extLst>
                    <a:ext uri="{9D8B030D-6E8A-4147-A177-3AD203B41FA5}">
                      <a16:colId xmlns:a16="http://schemas.microsoft.com/office/drawing/2014/main" val="1216502835"/>
                    </a:ext>
                  </a:extLst>
                </a:gridCol>
                <a:gridCol w="1394386">
                  <a:extLst>
                    <a:ext uri="{9D8B030D-6E8A-4147-A177-3AD203B41FA5}">
                      <a16:colId xmlns:a16="http://schemas.microsoft.com/office/drawing/2014/main" val="2153609104"/>
                    </a:ext>
                  </a:extLst>
                </a:gridCol>
                <a:gridCol w="1021568">
                  <a:extLst>
                    <a:ext uri="{9D8B030D-6E8A-4147-A177-3AD203B41FA5}">
                      <a16:colId xmlns:a16="http://schemas.microsoft.com/office/drawing/2014/main" val="2233894158"/>
                    </a:ext>
                  </a:extLst>
                </a:gridCol>
                <a:gridCol w="1326514">
                  <a:extLst>
                    <a:ext uri="{9D8B030D-6E8A-4147-A177-3AD203B41FA5}">
                      <a16:colId xmlns:a16="http://schemas.microsoft.com/office/drawing/2014/main" val="404929529"/>
                    </a:ext>
                  </a:extLst>
                </a:gridCol>
                <a:gridCol w="960579">
                  <a:extLst>
                    <a:ext uri="{9D8B030D-6E8A-4147-A177-3AD203B41FA5}">
                      <a16:colId xmlns:a16="http://schemas.microsoft.com/office/drawing/2014/main" val="2431508017"/>
                    </a:ext>
                  </a:extLst>
                </a:gridCol>
                <a:gridCol w="1417998">
                  <a:extLst>
                    <a:ext uri="{9D8B030D-6E8A-4147-A177-3AD203B41FA5}">
                      <a16:colId xmlns:a16="http://schemas.microsoft.com/office/drawing/2014/main" val="2733487022"/>
                    </a:ext>
                  </a:extLst>
                </a:gridCol>
                <a:gridCol w="1189288">
                  <a:extLst>
                    <a:ext uri="{9D8B030D-6E8A-4147-A177-3AD203B41FA5}">
                      <a16:colId xmlns:a16="http://schemas.microsoft.com/office/drawing/2014/main" val="396026726"/>
                    </a:ext>
                  </a:extLst>
                </a:gridCol>
                <a:gridCol w="1397609">
                  <a:extLst>
                    <a:ext uri="{9D8B030D-6E8A-4147-A177-3AD203B41FA5}">
                      <a16:colId xmlns:a16="http://schemas.microsoft.com/office/drawing/2014/main" val="130810344"/>
                    </a:ext>
                  </a:extLst>
                </a:gridCol>
              </a:tblGrid>
              <a:tr h="370840">
                <a:tc>
                  <a:txBody>
                    <a:bodyPr/>
                    <a:lstStyle/>
                    <a:p>
                      <a:r>
                        <a:rPr lang="en-US" dirty="0"/>
                        <a:t>FID</a:t>
                      </a:r>
                      <a:endParaRPr lang="en-IN" dirty="0"/>
                    </a:p>
                  </a:txBody>
                  <a:tcPr/>
                </a:tc>
                <a:tc>
                  <a:txBody>
                    <a:bodyPr/>
                    <a:lstStyle/>
                    <a:p>
                      <a:r>
                        <a:rPr lang="en-US" dirty="0"/>
                        <a:t>FOWNER NAME</a:t>
                      </a:r>
                      <a:endParaRPr lang="en-IN" dirty="0"/>
                    </a:p>
                  </a:txBody>
                  <a:tcPr/>
                </a:tc>
                <a:tc>
                  <a:txBody>
                    <a:bodyPr/>
                    <a:lstStyle/>
                    <a:p>
                      <a:r>
                        <a:rPr lang="en-US" dirty="0"/>
                        <a:t>FRIMNAME</a:t>
                      </a:r>
                      <a:endParaRPr lang="en-IN" dirty="0"/>
                    </a:p>
                  </a:txBody>
                  <a:tcPr/>
                </a:tc>
                <a:tc>
                  <a:txBody>
                    <a:bodyPr/>
                    <a:lstStyle/>
                    <a:p>
                      <a:r>
                        <a:rPr lang="en-US" dirty="0"/>
                        <a:t>FIRM OWNER PHOTO</a:t>
                      </a:r>
                      <a:endParaRPr lang="en-IN" dirty="0"/>
                    </a:p>
                  </a:txBody>
                  <a:tcPr/>
                </a:tc>
                <a:tc>
                  <a:txBody>
                    <a:bodyPr/>
                    <a:lstStyle/>
                    <a:p>
                      <a:r>
                        <a:rPr lang="en-US" dirty="0"/>
                        <a:t>FCONTACT NUMBER</a:t>
                      </a:r>
                      <a:endParaRPr lang="en-IN" dirty="0"/>
                    </a:p>
                  </a:txBody>
                  <a:tcPr/>
                </a:tc>
                <a:tc>
                  <a:txBody>
                    <a:bodyPr/>
                    <a:lstStyle/>
                    <a:p>
                      <a:r>
                        <a:rPr lang="en-US" dirty="0"/>
                        <a:t>FEMAIL</a:t>
                      </a:r>
                      <a:endParaRPr lang="en-IN" dirty="0"/>
                    </a:p>
                  </a:txBody>
                  <a:tcPr/>
                </a:tc>
                <a:tc>
                  <a:txBody>
                    <a:bodyPr/>
                    <a:lstStyle/>
                    <a:p>
                      <a:r>
                        <a:rPr lang="en-US" dirty="0"/>
                        <a:t>FLOCATION</a:t>
                      </a:r>
                      <a:endParaRPr lang="en-IN" dirty="0"/>
                    </a:p>
                  </a:txBody>
                  <a:tcPr/>
                </a:tc>
                <a:tc>
                  <a:txBody>
                    <a:bodyPr/>
                    <a:lstStyle/>
                    <a:p>
                      <a:r>
                        <a:rPr lang="en-US" dirty="0"/>
                        <a:t>FTALUKA</a:t>
                      </a:r>
                      <a:endParaRPr lang="en-IN" dirty="0"/>
                    </a:p>
                  </a:txBody>
                  <a:tcPr/>
                </a:tc>
                <a:tc>
                  <a:txBody>
                    <a:bodyPr/>
                    <a:lstStyle/>
                    <a:p>
                      <a:r>
                        <a:rPr lang="en-US" dirty="0"/>
                        <a:t>F DISTRICT</a:t>
                      </a:r>
                      <a:endParaRPr lang="en-IN" dirty="0"/>
                    </a:p>
                  </a:txBody>
                  <a:tcPr/>
                </a:tc>
                <a:extLst>
                  <a:ext uri="{0D108BD9-81ED-4DB2-BD59-A6C34878D82A}">
                    <a16:rowId xmlns:a16="http://schemas.microsoft.com/office/drawing/2014/main" val="2654499445"/>
                  </a:ext>
                </a:extLst>
              </a:tr>
              <a:tr h="370840">
                <a:tc>
                  <a:txBody>
                    <a:bodyPr/>
                    <a:lstStyle/>
                    <a:p>
                      <a:r>
                        <a:rPr lang="en-US" dirty="0"/>
                        <a:t>101</a:t>
                      </a:r>
                      <a:endParaRPr lang="en-IN" dirty="0"/>
                    </a:p>
                  </a:txBody>
                  <a:tcPr/>
                </a:tc>
                <a:tc>
                  <a:txBody>
                    <a:bodyPr/>
                    <a:lstStyle/>
                    <a:p>
                      <a:r>
                        <a:rPr lang="en-US" dirty="0"/>
                        <a:t>XYZ</a:t>
                      </a:r>
                      <a:endParaRPr lang="en-IN" dirty="0"/>
                    </a:p>
                  </a:txBody>
                  <a:tcPr/>
                </a:tc>
                <a:tc>
                  <a:txBody>
                    <a:bodyPr/>
                    <a:lstStyle/>
                    <a:p>
                      <a:endParaRPr lang="en-IN" dirty="0"/>
                    </a:p>
                  </a:txBody>
                  <a:tcPr/>
                </a:tc>
                <a:tc>
                  <a:txBody>
                    <a:bodyPr/>
                    <a:lstStyle/>
                    <a:p>
                      <a:r>
                        <a:rPr lang="en-US" dirty="0"/>
                        <a:t>PHOTO</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9421356684</a:t>
                      </a:r>
                      <a:endParaRPr lang="en-IN" dirty="0"/>
                    </a:p>
                    <a:p>
                      <a:endParaRPr lang="en-IN" dirty="0"/>
                    </a:p>
                  </a:txBody>
                  <a:tcPr/>
                </a:tc>
                <a:tc>
                  <a:txBody>
                    <a:bodyPr/>
                    <a:lstStyle/>
                    <a:p>
                      <a:r>
                        <a:rPr lang="en-US" dirty="0">
                          <a:hlinkClick r:id="rId2"/>
                        </a:rPr>
                        <a:t>XYZ@GMAIL.COM</a:t>
                      </a:r>
                      <a:endParaRPr lang="en-IN" dirty="0"/>
                    </a:p>
                  </a:txBody>
                  <a:tcPr/>
                </a:tc>
                <a:tc>
                  <a:txBody>
                    <a:bodyPr/>
                    <a:lstStyle/>
                    <a:p>
                      <a:r>
                        <a:rPr lang="en-US" dirty="0"/>
                        <a:t>KATRAJ</a:t>
                      </a:r>
                      <a:endParaRPr lang="en-IN" dirty="0"/>
                    </a:p>
                  </a:txBody>
                  <a:tcPr/>
                </a:tc>
                <a:tc>
                  <a:txBody>
                    <a:bodyPr/>
                    <a:lstStyle/>
                    <a:p>
                      <a:r>
                        <a:rPr lang="en-US" dirty="0"/>
                        <a:t>HAVELI</a:t>
                      </a:r>
                      <a:endParaRPr lang="en-IN" dirty="0"/>
                    </a:p>
                  </a:txBody>
                  <a:tcPr/>
                </a:tc>
                <a:tc>
                  <a:txBody>
                    <a:bodyPr/>
                    <a:lstStyle/>
                    <a:p>
                      <a:r>
                        <a:rPr lang="en-US" dirty="0"/>
                        <a:t>PUNE</a:t>
                      </a:r>
                      <a:endParaRPr lang="en-IN" dirty="0"/>
                    </a:p>
                  </a:txBody>
                  <a:tcPr/>
                </a:tc>
                <a:extLst>
                  <a:ext uri="{0D108BD9-81ED-4DB2-BD59-A6C34878D82A}">
                    <a16:rowId xmlns:a16="http://schemas.microsoft.com/office/drawing/2014/main" val="1723782574"/>
                  </a:ext>
                </a:extLst>
              </a:tr>
            </a:tbl>
          </a:graphicData>
        </a:graphic>
      </p:graphicFrame>
      <p:sp>
        <p:nvSpPr>
          <p:cNvPr id="3" name="TextBox 2">
            <a:extLst>
              <a:ext uri="{FF2B5EF4-FFF2-40B4-BE49-F238E27FC236}">
                <a16:creationId xmlns:a16="http://schemas.microsoft.com/office/drawing/2014/main" id="{9B20AB0E-084E-A5F7-62B5-67D9594BDED2}"/>
              </a:ext>
            </a:extLst>
          </p:cNvPr>
          <p:cNvSpPr txBox="1"/>
          <p:nvPr/>
        </p:nvSpPr>
        <p:spPr>
          <a:xfrm>
            <a:off x="370840" y="457386"/>
            <a:ext cx="2402840" cy="369332"/>
          </a:xfrm>
          <a:prstGeom prst="rect">
            <a:avLst/>
          </a:prstGeom>
          <a:noFill/>
        </p:spPr>
        <p:txBody>
          <a:bodyPr wrap="square" rtlCol="0">
            <a:spAutoFit/>
          </a:bodyPr>
          <a:lstStyle/>
          <a:p>
            <a:r>
              <a:rPr lang="en-US" b="1" dirty="0"/>
              <a:t>FRANCHISE TABLE </a:t>
            </a:r>
            <a:endParaRPr lang="en-IN" b="1" dirty="0"/>
          </a:p>
        </p:txBody>
      </p:sp>
      <p:sp>
        <p:nvSpPr>
          <p:cNvPr id="5" name="TextBox 4">
            <a:extLst>
              <a:ext uri="{FF2B5EF4-FFF2-40B4-BE49-F238E27FC236}">
                <a16:creationId xmlns:a16="http://schemas.microsoft.com/office/drawing/2014/main" id="{2169F79D-712C-1A43-CA8E-0AD66D570900}"/>
              </a:ext>
            </a:extLst>
          </p:cNvPr>
          <p:cNvSpPr txBox="1"/>
          <p:nvPr/>
        </p:nvSpPr>
        <p:spPr>
          <a:xfrm>
            <a:off x="370840" y="3605860"/>
            <a:ext cx="3017520" cy="369332"/>
          </a:xfrm>
          <a:prstGeom prst="rect">
            <a:avLst/>
          </a:prstGeom>
          <a:noFill/>
        </p:spPr>
        <p:txBody>
          <a:bodyPr wrap="square" rtlCol="0">
            <a:spAutoFit/>
          </a:bodyPr>
          <a:lstStyle/>
          <a:p>
            <a:r>
              <a:rPr lang="en-US" b="1" dirty="0"/>
              <a:t>FRANCHISE INFO DETAILS</a:t>
            </a:r>
            <a:endParaRPr lang="en-IN" b="1" dirty="0"/>
          </a:p>
        </p:txBody>
      </p:sp>
      <p:graphicFrame>
        <p:nvGraphicFramePr>
          <p:cNvPr id="6" name="Table 5">
            <a:extLst>
              <a:ext uri="{FF2B5EF4-FFF2-40B4-BE49-F238E27FC236}">
                <a16:creationId xmlns:a16="http://schemas.microsoft.com/office/drawing/2014/main" id="{0D66EC9D-B996-5DFF-ED77-2D31F4A6A48A}"/>
              </a:ext>
            </a:extLst>
          </p:cNvPr>
          <p:cNvGraphicFramePr>
            <a:graphicFrameLocks noGrp="1"/>
          </p:cNvGraphicFramePr>
          <p:nvPr>
            <p:extLst>
              <p:ext uri="{D42A27DB-BD31-4B8C-83A1-F6EECF244321}">
                <p14:modId xmlns:p14="http://schemas.microsoft.com/office/powerpoint/2010/main" val="2046751143"/>
              </p:ext>
            </p:extLst>
          </p:nvPr>
        </p:nvGraphicFramePr>
        <p:xfrm>
          <a:off x="370840" y="4144856"/>
          <a:ext cx="10236200" cy="74168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1615267905"/>
                    </a:ext>
                  </a:extLst>
                </a:gridCol>
                <a:gridCol w="2047240">
                  <a:extLst>
                    <a:ext uri="{9D8B030D-6E8A-4147-A177-3AD203B41FA5}">
                      <a16:colId xmlns:a16="http://schemas.microsoft.com/office/drawing/2014/main" val="1067925068"/>
                    </a:ext>
                  </a:extLst>
                </a:gridCol>
                <a:gridCol w="2047240">
                  <a:extLst>
                    <a:ext uri="{9D8B030D-6E8A-4147-A177-3AD203B41FA5}">
                      <a16:colId xmlns:a16="http://schemas.microsoft.com/office/drawing/2014/main" val="4153298680"/>
                    </a:ext>
                  </a:extLst>
                </a:gridCol>
                <a:gridCol w="2047240">
                  <a:extLst>
                    <a:ext uri="{9D8B030D-6E8A-4147-A177-3AD203B41FA5}">
                      <a16:colId xmlns:a16="http://schemas.microsoft.com/office/drawing/2014/main" val="1297456851"/>
                    </a:ext>
                  </a:extLst>
                </a:gridCol>
                <a:gridCol w="2047240">
                  <a:extLst>
                    <a:ext uri="{9D8B030D-6E8A-4147-A177-3AD203B41FA5}">
                      <a16:colId xmlns:a16="http://schemas.microsoft.com/office/drawing/2014/main" val="282284358"/>
                    </a:ext>
                  </a:extLst>
                </a:gridCol>
              </a:tblGrid>
              <a:tr h="370840">
                <a:tc>
                  <a:txBody>
                    <a:bodyPr/>
                    <a:lstStyle/>
                    <a:p>
                      <a:r>
                        <a:rPr lang="en-US" dirty="0"/>
                        <a:t>FID</a:t>
                      </a:r>
                      <a:endParaRPr lang="en-IN" dirty="0"/>
                    </a:p>
                  </a:txBody>
                  <a:tcPr/>
                </a:tc>
                <a:tc>
                  <a:txBody>
                    <a:bodyPr/>
                    <a:lstStyle/>
                    <a:p>
                      <a:r>
                        <a:rPr lang="en-US" dirty="0"/>
                        <a:t>FNO</a:t>
                      </a:r>
                      <a:endParaRPr lang="en-IN" dirty="0"/>
                    </a:p>
                  </a:txBody>
                  <a:tcPr/>
                </a:tc>
                <a:tc>
                  <a:txBody>
                    <a:bodyPr/>
                    <a:lstStyle/>
                    <a:p>
                      <a:r>
                        <a:rPr lang="en-US" dirty="0"/>
                        <a:t>FSPACE IN SQRFT</a:t>
                      </a:r>
                      <a:endParaRPr lang="en-IN" dirty="0"/>
                    </a:p>
                  </a:txBody>
                  <a:tcPr/>
                </a:tc>
                <a:tc>
                  <a:txBody>
                    <a:bodyPr/>
                    <a:lstStyle/>
                    <a:p>
                      <a:r>
                        <a:rPr lang="en-US" dirty="0"/>
                        <a:t>FSTAFF NO</a:t>
                      </a:r>
                      <a:endParaRPr lang="en-IN" dirty="0"/>
                    </a:p>
                  </a:txBody>
                  <a:tcPr/>
                </a:tc>
                <a:tc>
                  <a:txBody>
                    <a:bodyPr/>
                    <a:lstStyle/>
                    <a:p>
                      <a:r>
                        <a:rPr lang="en-US" dirty="0"/>
                        <a:t>FBUSINESS TYPE</a:t>
                      </a:r>
                      <a:endParaRPr lang="en-IN" dirty="0"/>
                    </a:p>
                  </a:txBody>
                  <a:tcPr/>
                </a:tc>
                <a:extLst>
                  <a:ext uri="{0D108BD9-81ED-4DB2-BD59-A6C34878D82A}">
                    <a16:rowId xmlns:a16="http://schemas.microsoft.com/office/drawing/2014/main" val="864314920"/>
                  </a:ext>
                </a:extLst>
              </a:tr>
              <a:tr h="370840">
                <a:tc>
                  <a:txBody>
                    <a:bodyPr/>
                    <a:lstStyle/>
                    <a:p>
                      <a:r>
                        <a:rPr lang="en-US" dirty="0"/>
                        <a:t>101</a:t>
                      </a:r>
                      <a:endParaRPr lang="en-IN" dirty="0"/>
                    </a:p>
                  </a:txBody>
                  <a:tcPr/>
                </a:tc>
                <a:tc>
                  <a:txBody>
                    <a:bodyPr/>
                    <a:lstStyle/>
                    <a:p>
                      <a:r>
                        <a:rPr lang="en-US" dirty="0"/>
                        <a:t>111</a:t>
                      </a:r>
                      <a:endParaRPr lang="en-IN" dirty="0"/>
                    </a:p>
                  </a:txBody>
                  <a:tcPr/>
                </a:tc>
                <a:tc>
                  <a:txBody>
                    <a:bodyPr/>
                    <a:lstStyle/>
                    <a:p>
                      <a:r>
                        <a:rPr lang="en-US" dirty="0"/>
                        <a:t>602</a:t>
                      </a:r>
                      <a:endParaRPr lang="en-IN" dirty="0"/>
                    </a:p>
                  </a:txBody>
                  <a:tcPr/>
                </a:tc>
                <a:tc>
                  <a:txBody>
                    <a:bodyPr/>
                    <a:lstStyle/>
                    <a:p>
                      <a:r>
                        <a:rPr lang="en-US" dirty="0"/>
                        <a:t>20</a:t>
                      </a:r>
                      <a:endParaRPr lang="en-IN" dirty="0"/>
                    </a:p>
                  </a:txBody>
                  <a:tcPr/>
                </a:tc>
                <a:tc>
                  <a:txBody>
                    <a:bodyPr/>
                    <a:lstStyle/>
                    <a:p>
                      <a:r>
                        <a:rPr lang="en-US" dirty="0"/>
                        <a:t>ACADEMY</a:t>
                      </a:r>
                      <a:endParaRPr lang="en-IN" dirty="0"/>
                    </a:p>
                  </a:txBody>
                  <a:tcPr/>
                </a:tc>
                <a:extLst>
                  <a:ext uri="{0D108BD9-81ED-4DB2-BD59-A6C34878D82A}">
                    <a16:rowId xmlns:a16="http://schemas.microsoft.com/office/drawing/2014/main" val="2138558755"/>
                  </a:ext>
                </a:extLst>
              </a:tr>
            </a:tbl>
          </a:graphicData>
        </a:graphic>
      </p:graphicFrame>
    </p:spTree>
    <p:extLst>
      <p:ext uri="{BB962C8B-B14F-4D97-AF65-F5344CB8AC3E}">
        <p14:creationId xmlns:p14="http://schemas.microsoft.com/office/powerpoint/2010/main" val="2562678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98B9B5-CA6F-5239-3E7A-8DCA7B3F09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5834" y="120423"/>
            <a:ext cx="3829050" cy="6486525"/>
          </a:xfrm>
          <a:prstGeom prst="rect">
            <a:avLst/>
          </a:prstGeom>
        </p:spPr>
      </p:pic>
      <p:sp>
        <p:nvSpPr>
          <p:cNvPr id="4" name="TextBox 3">
            <a:extLst>
              <a:ext uri="{FF2B5EF4-FFF2-40B4-BE49-F238E27FC236}">
                <a16:creationId xmlns:a16="http://schemas.microsoft.com/office/drawing/2014/main" id="{A8AD821C-7C29-4622-72D7-9BA9B5D5976A}"/>
              </a:ext>
            </a:extLst>
          </p:cNvPr>
          <p:cNvSpPr txBox="1"/>
          <p:nvPr/>
        </p:nvSpPr>
        <p:spPr>
          <a:xfrm>
            <a:off x="373224" y="1120676"/>
            <a:ext cx="3974841" cy="3366563"/>
          </a:xfrm>
          <a:prstGeom prst="rect">
            <a:avLst/>
          </a:prstGeom>
          <a:noFill/>
        </p:spPr>
        <p:txBody>
          <a:bodyPr wrap="square">
            <a:spAutoFit/>
          </a:bodyPr>
          <a:lstStyle/>
          <a:p>
            <a:pPr>
              <a:lnSpc>
                <a:spcPct val="150000"/>
              </a:lnSpc>
            </a:pPr>
            <a:r>
              <a:rPr lang="en-US" b="1" i="0" dirty="0">
                <a:effectLst/>
                <a:latin typeface="TimesNewRomanPSMT"/>
              </a:rPr>
              <a:t>System flowchart</a:t>
            </a:r>
          </a:p>
          <a:p>
            <a:pPr>
              <a:lnSpc>
                <a:spcPct val="150000"/>
              </a:lnSpc>
            </a:pPr>
            <a:endParaRPr lang="en-US" b="0" i="0" dirty="0">
              <a:effectLst/>
              <a:latin typeface="TimesNewRomanPSMT"/>
            </a:endParaRPr>
          </a:p>
          <a:p>
            <a:pPr>
              <a:lnSpc>
                <a:spcPct val="150000"/>
              </a:lnSpc>
            </a:pPr>
            <a:r>
              <a:rPr lang="en-US" b="0" i="0" dirty="0">
                <a:effectLst/>
                <a:latin typeface="TimesNewRomanPSMT"/>
              </a:rPr>
              <a:t>A flowchart is a visual representation of a system or process using symbols and connectors to illustrate the sequence of steps or actions involved. It helps depict the flow of information, data, or activities within a system.</a:t>
            </a:r>
            <a:endParaRPr lang="en-IN" dirty="0">
              <a:latin typeface="TimesNewRomanPSMT"/>
            </a:endParaRPr>
          </a:p>
        </p:txBody>
      </p:sp>
    </p:spTree>
    <p:extLst>
      <p:ext uri="{BB962C8B-B14F-4D97-AF65-F5344CB8AC3E}">
        <p14:creationId xmlns:p14="http://schemas.microsoft.com/office/powerpoint/2010/main" val="1734107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FF65A5-F2B9-88CF-4710-FA7678084EDE}"/>
              </a:ext>
            </a:extLst>
          </p:cNvPr>
          <p:cNvSpPr txBox="1"/>
          <p:nvPr/>
        </p:nvSpPr>
        <p:spPr>
          <a:xfrm>
            <a:off x="709126" y="1563455"/>
            <a:ext cx="8406882" cy="2581732"/>
          </a:xfrm>
          <a:prstGeom prst="rect">
            <a:avLst/>
          </a:prstGeom>
          <a:noFill/>
        </p:spPr>
        <p:txBody>
          <a:bodyPr wrap="square" rtlCol="0">
            <a:spAutoFit/>
          </a:bodyPr>
          <a:lstStyle/>
          <a:p>
            <a:pPr>
              <a:lnSpc>
                <a:spcPct val="150000"/>
              </a:lnSpc>
            </a:pPr>
            <a:r>
              <a:rPr lang="en-IN" sz="2000" b="1" dirty="0">
                <a:latin typeface="TimesNewRomanPSMT"/>
              </a:rPr>
              <a:t>Usecase Diagram:  </a:t>
            </a:r>
          </a:p>
          <a:p>
            <a:pPr>
              <a:lnSpc>
                <a:spcPct val="150000"/>
              </a:lnSpc>
            </a:pPr>
            <a:endParaRPr lang="en-IN" b="1" dirty="0">
              <a:latin typeface="TimesNewRomanPSMT"/>
            </a:endParaRPr>
          </a:p>
          <a:p>
            <a:pPr>
              <a:lnSpc>
                <a:spcPct val="150000"/>
              </a:lnSpc>
            </a:pPr>
            <a:r>
              <a:rPr lang="en-US" b="0" i="0" dirty="0">
                <a:effectLst/>
                <a:latin typeface="TimesNewRomanPSMT"/>
              </a:rPr>
              <a:t>A use case diagram is a graphical depiction of a user's possible interactions with a system. A use case diagram shows various use cases and different types of users the system has and will often be accompanied by other types of diagrams as well. The use cases are represented by either circles or ellipses.</a:t>
            </a:r>
            <a:endParaRPr lang="en-IN" dirty="0">
              <a:latin typeface="TimesNewRomanPSMT"/>
            </a:endParaRPr>
          </a:p>
        </p:txBody>
      </p:sp>
      <p:sp>
        <p:nvSpPr>
          <p:cNvPr id="3" name="TextBox 2">
            <a:extLst>
              <a:ext uri="{FF2B5EF4-FFF2-40B4-BE49-F238E27FC236}">
                <a16:creationId xmlns:a16="http://schemas.microsoft.com/office/drawing/2014/main" id="{72CE68CC-ACEF-5A3A-7EC8-082DD17F82F8}"/>
              </a:ext>
            </a:extLst>
          </p:cNvPr>
          <p:cNvSpPr txBox="1"/>
          <p:nvPr/>
        </p:nvSpPr>
        <p:spPr>
          <a:xfrm>
            <a:off x="2752531" y="447869"/>
            <a:ext cx="4478694" cy="461665"/>
          </a:xfrm>
          <a:prstGeom prst="rect">
            <a:avLst/>
          </a:prstGeom>
          <a:noFill/>
        </p:spPr>
        <p:txBody>
          <a:bodyPr wrap="square" rtlCol="0">
            <a:spAutoFit/>
          </a:bodyPr>
          <a:lstStyle/>
          <a:p>
            <a:pPr algn="ctr"/>
            <a:r>
              <a:rPr lang="en-IN" sz="2400" b="1" dirty="0">
                <a:latin typeface="TimesNewRomanPSMT"/>
              </a:rPr>
              <a:t>UML Diagrams</a:t>
            </a:r>
          </a:p>
        </p:txBody>
      </p:sp>
    </p:spTree>
    <p:extLst>
      <p:ext uri="{BB962C8B-B14F-4D97-AF65-F5344CB8AC3E}">
        <p14:creationId xmlns:p14="http://schemas.microsoft.com/office/powerpoint/2010/main" val="657363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9FEE2E-ACD2-FBB5-CC99-DA97DE6027DE}"/>
              </a:ext>
            </a:extLst>
          </p:cNvPr>
          <p:cNvPicPr>
            <a:picLocks noChangeAspect="1"/>
          </p:cNvPicPr>
          <p:nvPr/>
        </p:nvPicPr>
        <p:blipFill>
          <a:blip r:embed="rId2"/>
          <a:stretch>
            <a:fillRect/>
          </a:stretch>
        </p:blipFill>
        <p:spPr>
          <a:xfrm>
            <a:off x="1007706" y="0"/>
            <a:ext cx="7276519" cy="6858000"/>
          </a:xfrm>
          <a:prstGeom prst="rect">
            <a:avLst/>
          </a:prstGeom>
        </p:spPr>
      </p:pic>
    </p:spTree>
    <p:extLst>
      <p:ext uri="{BB962C8B-B14F-4D97-AF65-F5344CB8AC3E}">
        <p14:creationId xmlns:p14="http://schemas.microsoft.com/office/powerpoint/2010/main" val="3678039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76830-266B-98E6-BA4C-C0E1332BA15C}"/>
              </a:ext>
            </a:extLst>
          </p:cNvPr>
          <p:cNvSpPr txBox="1"/>
          <p:nvPr/>
        </p:nvSpPr>
        <p:spPr>
          <a:xfrm>
            <a:off x="625149" y="642266"/>
            <a:ext cx="8024327" cy="2120068"/>
          </a:xfrm>
          <a:prstGeom prst="rect">
            <a:avLst/>
          </a:prstGeom>
          <a:noFill/>
        </p:spPr>
        <p:txBody>
          <a:bodyPr wrap="square">
            <a:spAutoFit/>
          </a:bodyPr>
          <a:lstStyle/>
          <a:p>
            <a:pPr>
              <a:lnSpc>
                <a:spcPct val="150000"/>
              </a:lnSpc>
            </a:pPr>
            <a:r>
              <a:rPr lang="en-IN" b="1" dirty="0">
                <a:latin typeface="TimesNewRomanPSMT"/>
              </a:rPr>
              <a:t>SEQUENCE DIAGRAM:</a:t>
            </a:r>
          </a:p>
          <a:p>
            <a:pPr>
              <a:lnSpc>
                <a:spcPct val="150000"/>
              </a:lnSpc>
            </a:pPr>
            <a:endParaRPr lang="en-IN" b="1" dirty="0">
              <a:latin typeface="TimesNewRomanPSMT"/>
            </a:endParaRPr>
          </a:p>
          <a:p>
            <a:pPr>
              <a:lnSpc>
                <a:spcPct val="150000"/>
              </a:lnSpc>
            </a:pPr>
            <a:r>
              <a:rPr lang="en-IN" dirty="0">
                <a:latin typeface="TimesNewRomanPSMT"/>
              </a:rPr>
              <a:t> </a:t>
            </a:r>
            <a:r>
              <a:rPr lang="en-US" dirty="0">
                <a:latin typeface="TimesNewRomanPSMT"/>
              </a:rPr>
              <a:t>An </a:t>
            </a:r>
            <a:r>
              <a:rPr lang="en-IN" dirty="0">
                <a:latin typeface="TimesNewRomanPSMT"/>
              </a:rPr>
              <a:t>Sequence </a:t>
            </a:r>
            <a:r>
              <a:rPr lang="en-US" dirty="0">
                <a:latin typeface="TimesNewRomanPSMT"/>
              </a:rPr>
              <a:t>diagram shows an interaction, consisting of set of objects and their relationship including the messages that may be dispatched among them.</a:t>
            </a:r>
          </a:p>
          <a:p>
            <a:pPr>
              <a:lnSpc>
                <a:spcPct val="150000"/>
              </a:lnSpc>
            </a:pPr>
            <a:endParaRPr lang="en-US" dirty="0">
              <a:latin typeface="TimesNewRomanPSMT"/>
            </a:endParaRPr>
          </a:p>
        </p:txBody>
      </p:sp>
    </p:spTree>
    <p:extLst>
      <p:ext uri="{BB962C8B-B14F-4D97-AF65-F5344CB8AC3E}">
        <p14:creationId xmlns:p14="http://schemas.microsoft.com/office/powerpoint/2010/main" val="2043121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1D026A-8937-61D3-1D10-6CB479B23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32" y="391886"/>
            <a:ext cx="11705951" cy="6228756"/>
          </a:xfrm>
          <a:prstGeom prst="rect">
            <a:avLst/>
          </a:prstGeom>
        </p:spPr>
      </p:pic>
    </p:spTree>
    <p:extLst>
      <p:ext uri="{BB962C8B-B14F-4D97-AF65-F5344CB8AC3E}">
        <p14:creationId xmlns:p14="http://schemas.microsoft.com/office/powerpoint/2010/main" val="2882051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94F6DF-CCBB-18F0-AC03-7879FE041DE1}"/>
              </a:ext>
            </a:extLst>
          </p:cNvPr>
          <p:cNvSpPr txBox="1"/>
          <p:nvPr/>
        </p:nvSpPr>
        <p:spPr>
          <a:xfrm>
            <a:off x="503852" y="449244"/>
            <a:ext cx="8397551" cy="3366563"/>
          </a:xfrm>
          <a:prstGeom prst="rect">
            <a:avLst/>
          </a:prstGeom>
          <a:noFill/>
        </p:spPr>
        <p:txBody>
          <a:bodyPr wrap="square">
            <a:spAutoFit/>
          </a:bodyPr>
          <a:lstStyle/>
          <a:p>
            <a:pPr algn="just">
              <a:lnSpc>
                <a:spcPct val="150000"/>
              </a:lnSpc>
            </a:pPr>
            <a:r>
              <a:rPr lang="en-US" b="1" i="0" dirty="0">
                <a:effectLst/>
                <a:latin typeface="TimesNewRomanPS-BoldMT"/>
              </a:rPr>
              <a:t>Class Diagram</a:t>
            </a:r>
          </a:p>
          <a:p>
            <a:pPr algn="just">
              <a:lnSpc>
                <a:spcPct val="150000"/>
              </a:lnSpc>
            </a:pPr>
            <a:endParaRPr lang="en-US" b="1" i="0" dirty="0">
              <a:effectLst/>
              <a:latin typeface="TimesNewRomanPS-BoldMT"/>
            </a:endParaRPr>
          </a:p>
          <a:p>
            <a:pPr algn="just">
              <a:lnSpc>
                <a:spcPct val="150000"/>
              </a:lnSpc>
            </a:pPr>
            <a:r>
              <a:rPr lang="en-US" b="0" i="0" dirty="0">
                <a:effectLst/>
                <a:latin typeface="TimesNewRomanPS-BoldMT"/>
              </a:rPr>
              <a:t>The class diagram depicts a static view of an application. It represents the types of objects residing in the system and the relationships between them. </a:t>
            </a:r>
          </a:p>
          <a:p>
            <a:pPr algn="just">
              <a:lnSpc>
                <a:spcPct val="150000"/>
              </a:lnSpc>
            </a:pPr>
            <a:endParaRPr lang="en-US" dirty="0">
              <a:latin typeface="TimesNewRomanPS-BoldMT"/>
            </a:endParaRPr>
          </a:p>
          <a:p>
            <a:pPr algn="just">
              <a:lnSpc>
                <a:spcPct val="150000"/>
              </a:lnSpc>
            </a:pPr>
            <a:r>
              <a:rPr lang="en-US" b="0" i="0" dirty="0">
                <a:effectLst/>
                <a:latin typeface="TimesNewRomanPS-BoldMT"/>
              </a:rPr>
              <a:t>A class consists of its objects, and also it may inherit from other classes. A class diagram is used to visualize, describe, document various different aspects of the system, and also construct executable software code.</a:t>
            </a:r>
          </a:p>
        </p:txBody>
      </p:sp>
    </p:spTree>
    <p:extLst>
      <p:ext uri="{BB962C8B-B14F-4D97-AF65-F5344CB8AC3E}">
        <p14:creationId xmlns:p14="http://schemas.microsoft.com/office/powerpoint/2010/main" val="2668542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2C59CD-8697-16DD-0F4F-EB18552A4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42525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6A885D-FC15-D505-F26B-EAF418F9A11B}"/>
              </a:ext>
            </a:extLst>
          </p:cNvPr>
          <p:cNvSpPr txBox="1"/>
          <p:nvPr/>
        </p:nvSpPr>
        <p:spPr>
          <a:xfrm>
            <a:off x="398104" y="1035699"/>
            <a:ext cx="4282750" cy="3416320"/>
          </a:xfrm>
          <a:prstGeom prst="rect">
            <a:avLst/>
          </a:prstGeom>
          <a:noFill/>
        </p:spPr>
        <p:txBody>
          <a:bodyPr wrap="square" rtlCol="0">
            <a:spAutoFit/>
          </a:bodyPr>
          <a:lstStyle/>
          <a:p>
            <a:r>
              <a:rPr lang="en-IN" b="1" dirty="0">
                <a:latin typeface="TimesNewRomanPS-BoldMT"/>
              </a:rPr>
              <a:t>State Diagram</a:t>
            </a:r>
          </a:p>
          <a:p>
            <a:endParaRPr lang="en-IN" b="1" dirty="0">
              <a:latin typeface="TimesNewRomanPS-BoldMT"/>
            </a:endParaRPr>
          </a:p>
          <a:p>
            <a:r>
              <a:rPr lang="en-US" b="0" i="0" dirty="0">
                <a:solidFill>
                  <a:srgbClr val="000000"/>
                </a:solidFill>
                <a:effectLst/>
                <a:latin typeface="TimesNewRomanPS-BoldMT"/>
              </a:rPr>
              <a:t>State diagram describes the flow of control from one state to another state. States are defined as a condition in which an object exists and it changes when some event is triggered.</a:t>
            </a:r>
          </a:p>
          <a:p>
            <a:endParaRPr lang="en-US" dirty="0">
              <a:solidFill>
                <a:srgbClr val="000000"/>
              </a:solidFill>
              <a:latin typeface="TimesNewRomanPS-BoldMT"/>
            </a:endParaRPr>
          </a:p>
          <a:p>
            <a:r>
              <a:rPr lang="en-US" b="0" i="0" dirty="0">
                <a:solidFill>
                  <a:srgbClr val="000000"/>
                </a:solidFill>
                <a:effectLst/>
                <a:latin typeface="TimesNewRomanPS-BoldMT"/>
              </a:rPr>
              <a:t>The most important purpose of State diagram is to model lifetime of an object from creation to termination.</a:t>
            </a:r>
            <a:endParaRPr lang="en-IN" b="1" dirty="0">
              <a:latin typeface="TimesNewRomanPS-BoldMT"/>
            </a:endParaRPr>
          </a:p>
          <a:p>
            <a:endParaRPr lang="en-IN" b="1" dirty="0">
              <a:latin typeface="TimesNewRomanPS-BoldMT"/>
            </a:endParaRPr>
          </a:p>
        </p:txBody>
      </p:sp>
      <p:pic>
        <p:nvPicPr>
          <p:cNvPr id="3" name="Picture 2">
            <a:extLst>
              <a:ext uri="{FF2B5EF4-FFF2-40B4-BE49-F238E27FC236}">
                <a16:creationId xmlns:a16="http://schemas.microsoft.com/office/drawing/2014/main" id="{5A01B60A-0264-9178-7C5A-4DC152C5B046}"/>
              </a:ext>
            </a:extLst>
          </p:cNvPr>
          <p:cNvPicPr>
            <a:picLocks noChangeAspect="1"/>
          </p:cNvPicPr>
          <p:nvPr/>
        </p:nvPicPr>
        <p:blipFill rotWithShape="1">
          <a:blip r:embed="rId2">
            <a:extLst>
              <a:ext uri="{28A0092B-C50C-407E-A947-70E740481C1C}">
                <a14:useLocalDpi xmlns:a14="http://schemas.microsoft.com/office/drawing/2010/main" val="0"/>
              </a:ext>
            </a:extLst>
          </a:blip>
          <a:srcRect t="4266" r="14366"/>
          <a:stretch/>
        </p:blipFill>
        <p:spPr>
          <a:xfrm>
            <a:off x="4917236" y="83976"/>
            <a:ext cx="4282750" cy="6240333"/>
          </a:xfrm>
          <a:prstGeom prst="rect">
            <a:avLst/>
          </a:prstGeom>
        </p:spPr>
      </p:pic>
    </p:spTree>
    <p:extLst>
      <p:ext uri="{BB962C8B-B14F-4D97-AF65-F5344CB8AC3E}">
        <p14:creationId xmlns:p14="http://schemas.microsoft.com/office/powerpoint/2010/main" val="420305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948927-B61A-C524-9BA8-BD3D4DBAD960}"/>
              </a:ext>
            </a:extLst>
          </p:cNvPr>
          <p:cNvSpPr txBox="1"/>
          <p:nvPr/>
        </p:nvSpPr>
        <p:spPr>
          <a:xfrm>
            <a:off x="550505" y="289249"/>
            <a:ext cx="8509519" cy="3782061"/>
          </a:xfrm>
          <a:prstGeom prst="rect">
            <a:avLst/>
          </a:prstGeom>
          <a:noFill/>
        </p:spPr>
        <p:txBody>
          <a:bodyPr wrap="square" rtlCol="0">
            <a:spAutoFit/>
          </a:bodyPr>
          <a:lstStyle/>
          <a:p>
            <a:pPr>
              <a:lnSpc>
                <a:spcPct val="150000"/>
              </a:lnSpc>
            </a:pPr>
            <a:r>
              <a:rPr lang="en-IN" b="1" dirty="0">
                <a:latin typeface="TimesNewRomanPSMT"/>
              </a:rPr>
              <a:t>Object Diagram</a:t>
            </a:r>
          </a:p>
          <a:p>
            <a:pPr>
              <a:lnSpc>
                <a:spcPct val="150000"/>
              </a:lnSpc>
            </a:pPr>
            <a:endParaRPr lang="en-IN" dirty="0">
              <a:latin typeface="TimesNewRomanPSMT"/>
            </a:endParaRPr>
          </a:p>
          <a:p>
            <a:pPr algn="l">
              <a:lnSpc>
                <a:spcPct val="150000"/>
              </a:lnSpc>
            </a:pPr>
            <a:r>
              <a:rPr lang="en-US" b="0" i="0" dirty="0">
                <a:solidFill>
                  <a:srgbClr val="000000"/>
                </a:solidFill>
                <a:effectLst/>
                <a:latin typeface="TimesNewRomanPSMT"/>
              </a:rPr>
              <a:t>Object diagrams are derived from class diagrams so object diagrams are dependent upon class diagrams.</a:t>
            </a:r>
          </a:p>
          <a:p>
            <a:pPr algn="l">
              <a:lnSpc>
                <a:spcPct val="150000"/>
              </a:lnSpc>
            </a:pPr>
            <a:endParaRPr lang="en-US" b="0" i="0" dirty="0">
              <a:solidFill>
                <a:srgbClr val="000000"/>
              </a:solidFill>
              <a:effectLst/>
              <a:latin typeface="TimesNewRomanPSMT"/>
            </a:endParaRPr>
          </a:p>
          <a:p>
            <a:pPr algn="l">
              <a:lnSpc>
                <a:spcPct val="150000"/>
              </a:lnSpc>
            </a:pPr>
            <a:r>
              <a:rPr lang="en-US" b="0" i="0" dirty="0">
                <a:solidFill>
                  <a:srgbClr val="000000"/>
                </a:solidFill>
                <a:effectLst/>
                <a:latin typeface="TimesNewRomanPSMT"/>
              </a:rPr>
              <a:t>Object diagrams represent an instance of a class diagram. The basic concepts are similar for class diagrams and object diagrams. Object diagrams also represent the static view of a system but this static view is a snapshot of the system at a particular moment.</a:t>
            </a:r>
          </a:p>
          <a:p>
            <a:pPr>
              <a:lnSpc>
                <a:spcPct val="150000"/>
              </a:lnSpc>
            </a:pPr>
            <a:endParaRPr lang="en-IN" dirty="0">
              <a:latin typeface="TimesNewRomanPSMT"/>
            </a:endParaRPr>
          </a:p>
        </p:txBody>
      </p:sp>
    </p:spTree>
    <p:extLst>
      <p:ext uri="{BB962C8B-B14F-4D97-AF65-F5344CB8AC3E}">
        <p14:creationId xmlns:p14="http://schemas.microsoft.com/office/powerpoint/2010/main" val="4156272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7F171E-3873-38A2-E1BF-EE26D2562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3894"/>
            <a:ext cx="12192000" cy="6223517"/>
          </a:xfrm>
          <a:prstGeom prst="rect">
            <a:avLst/>
          </a:prstGeom>
        </p:spPr>
      </p:pic>
    </p:spTree>
    <p:extLst>
      <p:ext uri="{BB962C8B-B14F-4D97-AF65-F5344CB8AC3E}">
        <p14:creationId xmlns:p14="http://schemas.microsoft.com/office/powerpoint/2010/main" val="3579775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640564-D9BC-5157-C785-9F94E0CAD0A2}"/>
              </a:ext>
            </a:extLst>
          </p:cNvPr>
          <p:cNvSpPr txBox="1"/>
          <p:nvPr/>
        </p:nvSpPr>
        <p:spPr>
          <a:xfrm>
            <a:off x="438539" y="466445"/>
            <a:ext cx="8304244" cy="2951064"/>
          </a:xfrm>
          <a:prstGeom prst="rect">
            <a:avLst/>
          </a:prstGeom>
          <a:noFill/>
        </p:spPr>
        <p:txBody>
          <a:bodyPr wrap="square">
            <a:spAutoFit/>
          </a:bodyPr>
          <a:lstStyle/>
          <a:p>
            <a:pPr>
              <a:lnSpc>
                <a:spcPct val="150000"/>
              </a:lnSpc>
            </a:pPr>
            <a:r>
              <a:rPr lang="en-US" b="1" i="0" dirty="0">
                <a:effectLst/>
                <a:latin typeface="TimesNewRomanPSMT"/>
              </a:rPr>
              <a:t>Activity Diagram</a:t>
            </a:r>
          </a:p>
          <a:p>
            <a:pPr>
              <a:lnSpc>
                <a:spcPct val="150000"/>
              </a:lnSpc>
            </a:pPr>
            <a:endParaRPr lang="en-US" b="0" i="0" dirty="0">
              <a:effectLst/>
              <a:latin typeface="TimesNewRomanPSMT"/>
            </a:endParaRPr>
          </a:p>
          <a:p>
            <a:pPr>
              <a:lnSpc>
                <a:spcPct val="150000"/>
              </a:lnSpc>
            </a:pPr>
            <a:r>
              <a:rPr lang="en-US" b="0" i="0" dirty="0">
                <a:effectLst/>
                <a:latin typeface="TimesNewRomanPSMT"/>
              </a:rPr>
              <a:t>An activity diagram is a type of Unified Modeling Language (UML) flowchart that shows the flow from one activity to another in a system or process. </a:t>
            </a:r>
          </a:p>
          <a:p>
            <a:pPr>
              <a:lnSpc>
                <a:spcPct val="150000"/>
              </a:lnSpc>
            </a:pPr>
            <a:endParaRPr lang="en-US" dirty="0">
              <a:latin typeface="TimesNewRomanPSMT"/>
            </a:endParaRPr>
          </a:p>
          <a:p>
            <a:pPr>
              <a:lnSpc>
                <a:spcPct val="150000"/>
              </a:lnSpc>
            </a:pPr>
            <a:r>
              <a:rPr lang="en-US" b="0" i="0" dirty="0">
                <a:effectLst/>
                <a:latin typeface="TimesNewRomanPSMT"/>
              </a:rPr>
              <a:t>It's used to describe the different dynamic aspects of a system and is referred to as a 'behavior diagram' because it describes what should happen in the modeled system.</a:t>
            </a:r>
            <a:endParaRPr lang="en-IN" dirty="0">
              <a:latin typeface="TimesNewRomanPSMT"/>
            </a:endParaRPr>
          </a:p>
        </p:txBody>
      </p:sp>
    </p:spTree>
    <p:extLst>
      <p:ext uri="{BB962C8B-B14F-4D97-AF65-F5344CB8AC3E}">
        <p14:creationId xmlns:p14="http://schemas.microsoft.com/office/powerpoint/2010/main" val="2370230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DB0567-9B0D-AF9B-87DB-25BA228C5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522" y="119937"/>
            <a:ext cx="7728700" cy="6618125"/>
          </a:xfrm>
          <a:prstGeom prst="rect">
            <a:avLst/>
          </a:prstGeom>
        </p:spPr>
      </p:pic>
    </p:spTree>
    <p:extLst>
      <p:ext uri="{BB962C8B-B14F-4D97-AF65-F5344CB8AC3E}">
        <p14:creationId xmlns:p14="http://schemas.microsoft.com/office/powerpoint/2010/main" val="655753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0D7CED-B1AC-5E35-91C2-53DA6B583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98" y="1715751"/>
            <a:ext cx="9461241" cy="5300870"/>
          </a:xfrm>
          <a:prstGeom prst="rect">
            <a:avLst/>
          </a:prstGeom>
        </p:spPr>
      </p:pic>
      <p:sp>
        <p:nvSpPr>
          <p:cNvPr id="4" name="TextBox 3">
            <a:extLst>
              <a:ext uri="{FF2B5EF4-FFF2-40B4-BE49-F238E27FC236}">
                <a16:creationId xmlns:a16="http://schemas.microsoft.com/office/drawing/2014/main" id="{92FF9DE3-9D84-C441-0E8E-ECC1321B9178}"/>
              </a:ext>
            </a:extLst>
          </p:cNvPr>
          <p:cNvSpPr txBox="1"/>
          <p:nvPr/>
        </p:nvSpPr>
        <p:spPr>
          <a:xfrm>
            <a:off x="251927" y="233265"/>
            <a:ext cx="8985379" cy="1754326"/>
          </a:xfrm>
          <a:prstGeom prst="rect">
            <a:avLst/>
          </a:prstGeom>
          <a:noFill/>
        </p:spPr>
        <p:txBody>
          <a:bodyPr wrap="square" rtlCol="0">
            <a:spAutoFit/>
          </a:bodyPr>
          <a:lstStyle/>
          <a:p>
            <a:r>
              <a:rPr lang="en-IN" b="1" i="0" dirty="0">
                <a:effectLst/>
                <a:latin typeface="TimesNewRomanPSMT"/>
              </a:rPr>
              <a:t>Component Diagram</a:t>
            </a:r>
          </a:p>
          <a:p>
            <a:endParaRPr lang="en-US" b="1" i="0" dirty="0">
              <a:effectLst/>
              <a:latin typeface="TimesNewRomanPSMT"/>
            </a:endParaRPr>
          </a:p>
          <a:p>
            <a:r>
              <a:rPr lang="en-US" b="0" i="0" dirty="0">
                <a:effectLst/>
                <a:latin typeface="TimesNewRomanPSMT"/>
              </a:rPr>
              <a:t>A component diagram describes the organization and wiring of the physical components in a system. Component diagrams are often drawn to help model implementation details and double-check that every aspect of the system's required functions is covered by planned development.</a:t>
            </a:r>
            <a:endParaRPr lang="en-IN" dirty="0">
              <a:latin typeface="TimesNewRomanPSMT"/>
            </a:endParaRPr>
          </a:p>
        </p:txBody>
      </p:sp>
    </p:spTree>
    <p:extLst>
      <p:ext uri="{BB962C8B-B14F-4D97-AF65-F5344CB8AC3E}">
        <p14:creationId xmlns:p14="http://schemas.microsoft.com/office/powerpoint/2010/main" val="672933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85B6FB-A34C-30EF-2121-8A3506638CE4}"/>
              </a:ext>
            </a:extLst>
          </p:cNvPr>
          <p:cNvSpPr txBox="1"/>
          <p:nvPr/>
        </p:nvSpPr>
        <p:spPr>
          <a:xfrm>
            <a:off x="401216" y="399670"/>
            <a:ext cx="9097348" cy="2120068"/>
          </a:xfrm>
          <a:prstGeom prst="rect">
            <a:avLst/>
          </a:prstGeom>
          <a:noFill/>
        </p:spPr>
        <p:txBody>
          <a:bodyPr wrap="square">
            <a:spAutoFit/>
          </a:bodyPr>
          <a:lstStyle/>
          <a:p>
            <a:pPr>
              <a:lnSpc>
                <a:spcPct val="150000"/>
              </a:lnSpc>
            </a:pPr>
            <a:r>
              <a:rPr lang="en-US" b="1" i="0" dirty="0">
                <a:effectLst/>
                <a:latin typeface="TimesNewRomanPSMT"/>
              </a:rPr>
              <a:t>Package Diagram</a:t>
            </a:r>
          </a:p>
          <a:p>
            <a:pPr>
              <a:lnSpc>
                <a:spcPct val="150000"/>
              </a:lnSpc>
            </a:pPr>
            <a:endParaRPr lang="en-US" b="0" i="0" dirty="0">
              <a:effectLst/>
              <a:latin typeface="TimesNewRomanPSMT"/>
            </a:endParaRPr>
          </a:p>
          <a:p>
            <a:pPr>
              <a:lnSpc>
                <a:spcPct val="150000"/>
              </a:lnSpc>
            </a:pPr>
            <a:r>
              <a:rPr lang="en-US" b="0" i="0" dirty="0">
                <a:effectLst/>
                <a:latin typeface="TimesNewRomanPSMT"/>
              </a:rPr>
              <a:t>Package diagrams are structural diagrams used to show the organization and arrangement of various model elements in the form of packages. A package is a grouping of related UML elements, such as diagrams, documents, classes, or even other packages.</a:t>
            </a:r>
            <a:endParaRPr lang="en-IN" dirty="0">
              <a:latin typeface="TimesNewRomanPSMT"/>
            </a:endParaRPr>
          </a:p>
        </p:txBody>
      </p:sp>
    </p:spTree>
    <p:extLst>
      <p:ext uri="{BB962C8B-B14F-4D97-AF65-F5344CB8AC3E}">
        <p14:creationId xmlns:p14="http://schemas.microsoft.com/office/powerpoint/2010/main" val="2619561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42EECA-18A0-D051-FB3C-D35F6228C1A6}"/>
              </a:ext>
            </a:extLst>
          </p:cNvPr>
          <p:cNvPicPr>
            <a:picLocks noChangeAspect="1"/>
          </p:cNvPicPr>
          <p:nvPr/>
        </p:nvPicPr>
        <p:blipFill rotWithShape="1">
          <a:blip r:embed="rId2">
            <a:extLst>
              <a:ext uri="{28A0092B-C50C-407E-A947-70E740481C1C}">
                <a14:useLocalDpi xmlns:a14="http://schemas.microsoft.com/office/drawing/2010/main" val="0"/>
              </a:ext>
            </a:extLst>
          </a:blip>
          <a:srcRect l="1638" t="6232" r="24881" b="9931"/>
          <a:stretch/>
        </p:blipFill>
        <p:spPr>
          <a:xfrm>
            <a:off x="569168" y="307912"/>
            <a:ext cx="9114071" cy="6470780"/>
          </a:xfrm>
          <a:prstGeom prst="rect">
            <a:avLst/>
          </a:prstGeom>
        </p:spPr>
      </p:pic>
    </p:spTree>
    <p:extLst>
      <p:ext uri="{BB962C8B-B14F-4D97-AF65-F5344CB8AC3E}">
        <p14:creationId xmlns:p14="http://schemas.microsoft.com/office/powerpoint/2010/main" val="3868900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BD05D2-EE42-0420-8E91-AA83DB43EBFF}"/>
              </a:ext>
            </a:extLst>
          </p:cNvPr>
          <p:cNvSpPr txBox="1"/>
          <p:nvPr/>
        </p:nvSpPr>
        <p:spPr>
          <a:xfrm>
            <a:off x="475860" y="642265"/>
            <a:ext cx="8649479" cy="2120068"/>
          </a:xfrm>
          <a:prstGeom prst="rect">
            <a:avLst/>
          </a:prstGeom>
          <a:noFill/>
        </p:spPr>
        <p:txBody>
          <a:bodyPr wrap="square">
            <a:spAutoFit/>
          </a:bodyPr>
          <a:lstStyle/>
          <a:p>
            <a:pPr>
              <a:lnSpc>
                <a:spcPct val="150000"/>
              </a:lnSpc>
            </a:pPr>
            <a:r>
              <a:rPr lang="en-IN" b="1" i="0" dirty="0">
                <a:effectLst/>
                <a:latin typeface="TimesNewRomanPSMT"/>
              </a:rPr>
              <a:t>Deployment Diagram</a:t>
            </a:r>
          </a:p>
          <a:p>
            <a:pPr>
              <a:lnSpc>
                <a:spcPct val="150000"/>
              </a:lnSpc>
            </a:pPr>
            <a:endParaRPr lang="en-US" b="0" i="0" dirty="0">
              <a:effectLst/>
              <a:latin typeface="TimesNewRomanPSMT"/>
            </a:endParaRPr>
          </a:p>
          <a:p>
            <a:pPr>
              <a:lnSpc>
                <a:spcPct val="150000"/>
              </a:lnSpc>
            </a:pPr>
            <a:r>
              <a:rPr lang="en-US" b="0" i="0" dirty="0">
                <a:effectLst/>
                <a:latin typeface="TimesNewRomanPSMT"/>
              </a:rPr>
              <a:t>A deployment diagram shows components and artifacts in relation to where they are used in the deployed system. A component diagram defines the composition of components and artifacts in the system. </a:t>
            </a:r>
            <a:endParaRPr lang="en-IN" dirty="0">
              <a:latin typeface="TimesNewRomanPSMT"/>
            </a:endParaRPr>
          </a:p>
        </p:txBody>
      </p:sp>
    </p:spTree>
    <p:extLst>
      <p:ext uri="{BB962C8B-B14F-4D97-AF65-F5344CB8AC3E}">
        <p14:creationId xmlns:p14="http://schemas.microsoft.com/office/powerpoint/2010/main" val="32347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5FBC57-CAF8-8CF7-A201-1C12E7BB2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542" y="296246"/>
            <a:ext cx="9158937" cy="5777981"/>
          </a:xfrm>
          <a:prstGeom prst="rect">
            <a:avLst/>
          </a:prstGeom>
        </p:spPr>
      </p:pic>
    </p:spTree>
    <p:extLst>
      <p:ext uri="{BB962C8B-B14F-4D97-AF65-F5344CB8AC3E}">
        <p14:creationId xmlns:p14="http://schemas.microsoft.com/office/powerpoint/2010/main" val="994832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BA2975-4FCB-DC9E-A745-DF62CB3BDE40}"/>
              </a:ext>
            </a:extLst>
          </p:cNvPr>
          <p:cNvSpPr txBox="1"/>
          <p:nvPr/>
        </p:nvSpPr>
        <p:spPr>
          <a:xfrm>
            <a:off x="401216" y="503852"/>
            <a:ext cx="8490857" cy="4197559"/>
          </a:xfrm>
          <a:prstGeom prst="rect">
            <a:avLst/>
          </a:prstGeom>
          <a:noFill/>
        </p:spPr>
        <p:txBody>
          <a:bodyPr wrap="square" rtlCol="0">
            <a:spAutoFit/>
          </a:bodyPr>
          <a:lstStyle/>
          <a:p>
            <a:pPr>
              <a:lnSpc>
                <a:spcPct val="150000"/>
              </a:lnSpc>
            </a:pPr>
            <a:r>
              <a:rPr lang="en-US" b="1" dirty="0">
                <a:latin typeface="TimesNewRomanPSMT"/>
              </a:rPr>
              <a:t>Future Enhancement</a:t>
            </a:r>
          </a:p>
          <a:p>
            <a:pPr>
              <a:lnSpc>
                <a:spcPct val="150000"/>
              </a:lnSpc>
            </a:pPr>
            <a:endParaRPr lang="en-IN" b="1" dirty="0">
              <a:latin typeface="TimesNewRomanPSMT"/>
            </a:endParaRPr>
          </a:p>
          <a:p>
            <a:pPr>
              <a:lnSpc>
                <a:spcPct val="150000"/>
              </a:lnSpc>
            </a:pPr>
            <a:r>
              <a:rPr lang="en-US" b="0" i="0" dirty="0">
                <a:effectLst/>
                <a:latin typeface="TimesNewRomanPSMT"/>
              </a:rPr>
              <a:t>Exploring integration with emerging technologies such as virtual reality (VR) or augmented reality (AR) for enhanced learning experiences. Creating a mobile application to allow users to access the system on their smartphones or tablets, providing more flexibility and convenience. Enhancing communication features with smart notifications and alerts to keep students, faculty, and administrators informed about important updates and events.</a:t>
            </a:r>
            <a:endParaRPr lang="en-IN" b="1" i="0" dirty="0">
              <a:effectLst/>
              <a:latin typeface="TimesNewRomanPSMT"/>
            </a:endParaRPr>
          </a:p>
          <a:p>
            <a:pPr>
              <a:lnSpc>
                <a:spcPct val="150000"/>
              </a:lnSpc>
            </a:pPr>
            <a:endParaRPr lang="en-IN" b="1" dirty="0">
              <a:latin typeface="TimesNewRomanPSMT"/>
            </a:endParaRPr>
          </a:p>
          <a:p>
            <a:pPr>
              <a:lnSpc>
                <a:spcPct val="150000"/>
              </a:lnSpc>
            </a:pPr>
            <a:endParaRPr lang="en-IN" b="1" dirty="0">
              <a:latin typeface="TimesNewRomanPSMT"/>
            </a:endParaRPr>
          </a:p>
        </p:txBody>
      </p:sp>
    </p:spTree>
    <p:extLst>
      <p:ext uri="{BB962C8B-B14F-4D97-AF65-F5344CB8AC3E}">
        <p14:creationId xmlns:p14="http://schemas.microsoft.com/office/powerpoint/2010/main" val="1736226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9016A0-EDD1-B246-E3DF-C190C201FFDE}"/>
              </a:ext>
            </a:extLst>
          </p:cNvPr>
          <p:cNvSpPr txBox="1">
            <a:spLocks/>
          </p:cNvSpPr>
          <p:nvPr/>
        </p:nvSpPr>
        <p:spPr>
          <a:xfrm>
            <a:off x="2017200" y="2485258"/>
            <a:ext cx="6473657" cy="1480252"/>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8000" b="1" dirty="0">
                <a:solidFill>
                  <a:schemeClr val="tx1">
                    <a:lumMod val="95000"/>
                    <a:lumOff val="5000"/>
                  </a:schemeClr>
                </a:solidFill>
                <a:latin typeface="Algerian" panose="04020705040A02060702" pitchFamily="82" charset="0"/>
                <a:ea typeface="STCaiyun" panose="02010800040101010101" pitchFamily="2" charset="-122"/>
              </a:rPr>
              <a:t>Thank you !</a:t>
            </a:r>
          </a:p>
        </p:txBody>
      </p:sp>
    </p:spTree>
    <p:extLst>
      <p:ext uri="{BB962C8B-B14F-4D97-AF65-F5344CB8AC3E}">
        <p14:creationId xmlns:p14="http://schemas.microsoft.com/office/powerpoint/2010/main" val="8495811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4869</TotalTime>
  <Words>1351</Words>
  <Application>Microsoft Office PowerPoint</Application>
  <PresentationFormat>Widescreen</PresentationFormat>
  <Paragraphs>345</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Algerian</vt:lpstr>
      <vt:lpstr>Arial</vt:lpstr>
      <vt:lpstr>Times New Roman</vt:lpstr>
      <vt:lpstr>TimesNewRomanPS-BoldMT</vt:lpstr>
      <vt:lpstr>TimesNewRomanPSMT</vt:lpstr>
      <vt:lpstr>Trebuchet MS</vt:lpstr>
      <vt:lpstr>Wingdings 3</vt:lpstr>
      <vt:lpstr>Facet</vt:lpstr>
      <vt:lpstr>Franchise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Franchisee Management System6</dc:title>
  <dc:creator>Jaydeep Sutar</dc:creator>
  <cp:lastModifiedBy>priyanka sulakhe</cp:lastModifiedBy>
  <cp:revision>20</cp:revision>
  <dcterms:created xsi:type="dcterms:W3CDTF">2023-12-28T09:33:17Z</dcterms:created>
  <dcterms:modified xsi:type="dcterms:W3CDTF">2024-04-01T14:50:51Z</dcterms:modified>
</cp:coreProperties>
</file>